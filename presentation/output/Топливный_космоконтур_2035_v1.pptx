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4657bcb67e4fd0" /><Relationship Type="http://schemas.openxmlformats.org/officeDocument/2006/relationships/extended-properties" Target="/docProps/app.xml" Id="R3f2a5a495f614d48" /><Relationship Type="http://schemas.openxmlformats.org/officeDocument/2006/relationships/officeDocument" Target="/ppt/presentation.xml" Id="Rc0acd4fcdf804e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027a7b8d5347a0"/>
  </p:sldMasterIdLst>
  <p:notesMasterIdLst>
    <p:notesMasterId xmlns:r="http://schemas.openxmlformats.org/officeDocument/2006/relationships" r:id="R6a03cc6f150d4f2f"/>
  </p:notesMasterIdLst>
  <p:sldIdLst>
    <p:sldId xmlns:r="http://schemas.openxmlformats.org/officeDocument/2006/relationships" id="256" r:id="Rb26657fc905b4630"/>
    <p:sldId xmlns:r="http://schemas.openxmlformats.org/officeDocument/2006/relationships" id="257" r:id="Rdd4ae762f40d4d48"/>
    <p:sldId xmlns:r="http://schemas.openxmlformats.org/officeDocument/2006/relationships" id="258" r:id="Re1668a5fd4c84d19"/>
    <p:sldId xmlns:r="http://schemas.openxmlformats.org/officeDocument/2006/relationships" id="259" r:id="R69eb7b4ed123437a"/>
    <p:sldId xmlns:r="http://schemas.openxmlformats.org/officeDocument/2006/relationships" id="260" r:id="Rc062d17a58324b11"/>
    <p:sldId xmlns:r="http://schemas.openxmlformats.org/officeDocument/2006/relationships" id="261" r:id="Ra74e46893b9d4656"/>
    <p:sldId xmlns:r="http://schemas.openxmlformats.org/officeDocument/2006/relationships" id="262" r:id="Rba644e5405c2436c"/>
    <p:sldId xmlns:r="http://schemas.openxmlformats.org/officeDocument/2006/relationships" id="263" r:id="R63d5b2f485454ab2"/>
    <p:sldId xmlns:r="http://schemas.openxmlformats.org/officeDocument/2006/relationships" id="264" r:id="R6a6bb4f2197c4dd9"/>
    <p:sldId xmlns:r="http://schemas.openxmlformats.org/officeDocument/2006/relationships" id="265" r:id="Re8879125b3f94a26"/>
    <p:sldId xmlns:r="http://schemas.openxmlformats.org/officeDocument/2006/relationships" id="266" r:id="R0f946a5f25234165"/>
    <p:sldId xmlns:r="http://schemas.openxmlformats.org/officeDocument/2006/relationships" id="267" r:id="R6c4d521d04564c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5872aca5904f16" /><Relationship Type="http://schemas.openxmlformats.org/officeDocument/2006/relationships/slideMaster" Target="/ppt/slideMasters/slideMaster1.xml" Id="R6f027a7b8d5347a0" /><Relationship Type="http://schemas.openxmlformats.org/officeDocument/2006/relationships/notesMaster" Target="/ppt/notesMasters/notesMaster1.xml" Id="R6a03cc6f150d4f2f" /><Relationship Type="http://schemas.openxmlformats.org/officeDocument/2006/relationships/presProps" Target="/ppt/presProps.xml" Id="R505602131c1949b8" /><Relationship Type="http://schemas.openxmlformats.org/officeDocument/2006/relationships/tableStyles" Target="/ppt/tableStyles.xml" Id="R55248c73f6e64cad" /><Relationship Type="http://schemas.openxmlformats.org/officeDocument/2006/relationships/slide" Target="/ppt/slides/slide1.xml" Id="Rb26657fc905b4630" /><Relationship Type="http://schemas.openxmlformats.org/officeDocument/2006/relationships/slide" Target="/ppt/slides/slide2.xml" Id="Rdd4ae762f40d4d48" /><Relationship Type="http://schemas.openxmlformats.org/officeDocument/2006/relationships/slide" Target="/ppt/slides/slide3.xml" Id="Re1668a5fd4c84d19" /><Relationship Type="http://schemas.openxmlformats.org/officeDocument/2006/relationships/slide" Target="/ppt/slides/slide4.xml" Id="R69eb7b4ed123437a" /><Relationship Type="http://schemas.openxmlformats.org/officeDocument/2006/relationships/slide" Target="/ppt/slides/slide5.xml" Id="Rc062d17a58324b11" /><Relationship Type="http://schemas.openxmlformats.org/officeDocument/2006/relationships/slide" Target="/ppt/slides/slide6.xml" Id="Ra74e46893b9d4656" /><Relationship Type="http://schemas.openxmlformats.org/officeDocument/2006/relationships/slide" Target="/ppt/slides/slide7.xml" Id="Rba644e5405c2436c" /><Relationship Type="http://schemas.openxmlformats.org/officeDocument/2006/relationships/slide" Target="/ppt/slides/slide8.xml" Id="R63d5b2f485454ab2" /><Relationship Type="http://schemas.openxmlformats.org/officeDocument/2006/relationships/slide" Target="/ppt/slides/slide9.xml" Id="R6a6bb4f2197c4dd9" /><Relationship Type="http://schemas.openxmlformats.org/officeDocument/2006/relationships/slide" Target="/ppt/slides/slide10.xml" Id="Re8879125b3f94a26" /><Relationship Type="http://schemas.openxmlformats.org/officeDocument/2006/relationships/slide" Target="/ppt/slides/slide11.xml" Id="R0f946a5f25234165" /><Relationship Type="http://schemas.openxmlformats.org/officeDocument/2006/relationships/slide" Target="/ppt/slides/slide12.xml" Id="R6c4d521d04564c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a17951c90346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92230a3d34467f" /><Relationship Type="http://schemas.openxmlformats.org/officeDocument/2006/relationships/notesMaster" Target="/ppt/notesMasters/notesMaster1.xml" Id="Rc33708c29aae4e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8ec108a88840b3" /><Relationship Type="http://schemas.openxmlformats.org/officeDocument/2006/relationships/notesMaster" Target="/ppt/notesMasters/notesMaster1.xml" Id="R3b4e963666ee4b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bbf2118129495e" /><Relationship Type="http://schemas.openxmlformats.org/officeDocument/2006/relationships/notesMaster" Target="/ppt/notesMasters/notesMaster1.xml" Id="Ra3a7762597e94d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10271964bd4099" /><Relationship Type="http://schemas.openxmlformats.org/officeDocument/2006/relationships/notesMaster" Target="/ppt/notesMasters/notesMaster1.xml" Id="R542dc7640cb44d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66fe49a39b48d1" /><Relationship Type="http://schemas.openxmlformats.org/officeDocument/2006/relationships/notesMaster" Target="/ppt/notesMasters/notesMaster1.xml" Id="R340c4fc5b3c149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c6210537ca42e3" /><Relationship Type="http://schemas.openxmlformats.org/officeDocument/2006/relationships/notesMaster" Target="/ppt/notesMasters/notesMaster1.xml" Id="R16184b8a668848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b1fcf586de4719" /><Relationship Type="http://schemas.openxmlformats.org/officeDocument/2006/relationships/notesMaster" Target="/ppt/notesMasters/notesMaster1.xml" Id="Re4507e06625545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5e84f5f04740ba" /><Relationship Type="http://schemas.openxmlformats.org/officeDocument/2006/relationships/notesMaster" Target="/ppt/notesMasters/notesMaster1.xml" Id="R1140ff6ab55e4d8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9fb16b710b4ccc" /><Relationship Type="http://schemas.openxmlformats.org/officeDocument/2006/relationships/notesMaster" Target="/ppt/notesMasters/notesMaster1.xml" Id="R9c13d4696ebf48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f7ccb1c67064940" /><Relationship Type="http://schemas.openxmlformats.org/officeDocument/2006/relationships/notesMaster" Target="/ppt/notesMasters/notesMaster1.xml" Id="R4b9cd6a19d8d486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5b5004abd2419d" /><Relationship Type="http://schemas.openxmlformats.org/officeDocument/2006/relationships/notesMaster" Target="/ppt/notesMasters/notesMaster1.xml" Id="R8b37460468fa429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82e429fab9a4be1" /><Relationship Type="http://schemas.openxmlformats.org/officeDocument/2006/relationships/notesMaster" Target="/ppt/notesMasters/notesMaster1.xml" Id="R3979cbf2ecc04e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Открываем защиту прямым результатом. S10 обеспечивает весь спрос в BASE и обязательном стрессе. PV расходов составляет 9 961.31 и 11 498.45 млн у.е. соответственно. В обоих сценариях минимальный уровень сервиса равен 1.000, дефицит и hard-нарушения отсутствуют.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results/exports/top5_detailed.csv; results/scenario_comparison.csv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Спрос BASE растёт с 100 до 390 т в год. Обязательный стресс поднимает общий спрос 2040 года до 448.5 т. Контрактные и физические ограничения нельзя компенсировать одним увеличением бюджета: у каналов есть сроки, мощности, take-or-pay и ограничения хранилища.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data/demand.csv; data/constraints.csv; configs/mandatory_stress.yaml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Эксперт запускает Streamlit, открывает FINAL BASE, меняет решения и получает новый расчёт. Интерфейс показывает правило, период, факт, лимит и русскую причину каждого нарушения. План и отдельный реестр договоров сохраняются рядом. CSV и XLSX формируются из того же RunResult.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app/main.py; docs/ИНСТРУКЦИЯ.md; tests/test_ui_wave2.py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Один и тот же run_plan используют интерфейс, экспорт и тесты. Планы не содержат расчётной логики. Сценарий создаёт копию CASE_INPUT и журналирует override. Полный список constraint_checks содержит и успешные, и нарушенные проверки.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src/engine/; ai_workstreams/00_contracts/core_api.md; docs/note/01_architecture.md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Скрининг охватывает 25 стратегий в двух сценариях. В топ-5 вошли разные семейства. S25 на 13.31 млн дешевле в BASE, но в обязательном стрессе проигрывает S10 на 850.28 млн. S10 получает 0.970 по baseline MCDA и остаётся лидером в наборах ECONOMY, RESILIENCE и FLEXIBILITY.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results/exports/screening_25.csv; results/exports/top5_detailed.csv; results/exports/mcda.csv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 опирается на A как базовый канал, B как быстрый инструмент адаптации, ISRU D с 2038 года и ZBO. Инвестиционные ворота привязаны к срокам и измеримым условиям. CAPEX 1 430 млн оставляет 370 млн headroom. Фактический отбор ISRU 223.7 т превышает порог рациональности 217 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results/plans/FINAL_BASE.json; docs/note/12_roadmap_budget.md; docs/note/09_strategy_comparison.md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Финансовая модель разделяет закупки, резервирование, CAPEX, хранение и фиксированный OPEX. PV BASE равен 9 961.31 млн у.е., стоимость обслуживания одной тонны 8.929 млн у.е. Инвестиции приходятся на 2036 год. Известная неэффективность плана — take-or-pay переплата 824.6 млн в 2040 году.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results/exports/FINAL_BASE/financial_breakdown.csv; results/exports/top5_detailed.csv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Стратегическая архитектура остаётся прежней: A, B, ISRU и ZBO. Меняются только заказы и целевой запас. Цена адаптации составляет 1 537.14 млн PV, при этом сервис остаётся 1.000 и нарушений нет. Тот же стресс на фиксированном BASE-плане даёт дефицит 130.69 т, минимальный SL_total 0.8486 и пять нарушений.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results/scenario_comparison.csv; results/stress/P01_summary.csv; results/plans/FINAL_BASE.json; results/plans/FINAL_STRESS.json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R02 и R08 требуют именно перезаказа: снять недоступные или завышенные объёмы, затем заменить их каналом B. Эти меры возвращают дефицит и нарушения к нулю. Геополитический тариф R10 повышает PV на 337.92 млн; B дороже новой цены A, а TOP ограничивает экономию, поэтому риск рационально принять.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results/risk_register.csv; results/stress/P03_risks.csv; results/geopolitics/P05_summary.json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Критический спрос защищён приоритетом аллокации. Оператор принимает стоимость адаптации. Без адаптации дефицит прежде всего ложится на коммерческих потребителей. Провайдер A получает дополнительную выручку при геополитическом тарифе. Физический предел реакции задаёт четырёхмесячный lead time канала 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docs/note/05_stakeholders.md; results/geopolitics/P05_parties.csv; results/scenario_comparison.csv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Контрольные векторы проверяют арифметику, 118 тестов контролируют регрессию, независимая реализация WP2 расходится с ядром максимум на 0.1003% при допуске 0.5%. Экспорт содержит семь согласованных файлов. Source-X подключается через данные; расширение горизонта требует явного изменения параметра модели и новых лимитов.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tests/; results/exports/reconciliation.csv; results/exports/FINAL_BASE/meta.json; ai_workstreams/WP6_presentation_repo/REPORT_wave1.md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Финальный ответ: опцион C в план не включён, ZBO обязателен, ISRU рационален при BASE-отборе 223.7 т, резерв выполняется физическим запасом. S10 остаётся выполнимым в BASE и обязательном стрессе. Прототип не управляет реальным оборудованием и использует агрегированный ресурс, месячный шаг и учебные цены.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docs/note/09_strategy_comparison.md; docs/note/07_limitations.md; results/scenario_comparison.csv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b9650f1ab948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ac9f0012d54522" /><Relationship Type="http://schemas.openxmlformats.org/officeDocument/2006/relationships/slideLayout" Target="/ppt/slideLayouts/slideLayout1.xml" Id="R3fc28e729d4247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c28e729d4247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7940d692d64338" /><Relationship Type="http://schemas.openxmlformats.org/officeDocument/2006/relationships/image" Target="/ppt/media/image.png" Id="R581deccdb6344384" /><Relationship Type="http://schemas.openxmlformats.org/officeDocument/2006/relationships/notesSlide" Target="/ppt/notesSlides/notesSlide1.xml" Id="Rf188c24c97a949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324bdc49b4be7" /><Relationship Type="http://schemas.openxmlformats.org/officeDocument/2006/relationships/chart" Target="/ppt/slides/charts/chart1.xml" Id="Rc26cfa9e2a0c47a4" /><Relationship Type="http://schemas.openxmlformats.org/officeDocument/2006/relationships/notesSlide" Target="/ppt/notesSlides/notesSlide2.xml" Id="Rbf5a920dd5a141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26007aaa6497e" /><Relationship Type="http://schemas.openxmlformats.org/officeDocument/2006/relationships/image" Target="/ppt/media/image2.png" Id="Rb4fe21119a094693" /><Relationship Type="http://schemas.openxmlformats.org/officeDocument/2006/relationships/notesSlide" Target="/ppt/notesSlides/notesSlide3.xml" Id="R2d5755a9b7ae49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a7b7e353a460a" /><Relationship Type="http://schemas.openxmlformats.org/officeDocument/2006/relationships/notesSlide" Target="/ppt/notesSlides/notesSlide4.xml" Id="R98f9a90b32f947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81022d68574d84" /><Relationship Type="http://schemas.openxmlformats.org/officeDocument/2006/relationships/chart" Target="/ppt/slides/charts/chart2.xml" Id="R4ccb85e560fc497a" /><Relationship Type="http://schemas.openxmlformats.org/officeDocument/2006/relationships/notesSlide" Target="/ppt/notesSlides/notesSlide5.xml" Id="Ra7023795aad644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e31ccc3544125" /><Relationship Type="http://schemas.openxmlformats.org/officeDocument/2006/relationships/notesSlide" Target="/ppt/notesSlides/notesSlide6.xml" Id="R78cbb614b7384c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e10b5f2064881" /><Relationship Type="http://schemas.openxmlformats.org/officeDocument/2006/relationships/chart" Target="/ppt/slides/charts/chart3.xml" Id="R860b86ef0f6f4c37" /><Relationship Type="http://schemas.openxmlformats.org/officeDocument/2006/relationships/notesSlide" Target="/ppt/notesSlides/notesSlide7.xml" Id="Rb2039995754b48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8b3c090684b4e" /><Relationship Type="http://schemas.openxmlformats.org/officeDocument/2006/relationships/chart" Target="/ppt/slides/charts/chart4.xml" Id="R67ce269a92c84757" /><Relationship Type="http://schemas.openxmlformats.org/officeDocument/2006/relationships/notesSlide" Target="/ppt/notesSlides/notesSlide8.xml" Id="Rc1ee87ada89148b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bc3f7e1c3042fc" /><Relationship Type="http://schemas.openxmlformats.org/officeDocument/2006/relationships/notesSlide" Target="/ppt/notesSlides/notesSlide9.xml" Id="Rc6325cce2c8643d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1cdb2145e9438f" /><Relationship Type="http://schemas.openxmlformats.org/officeDocument/2006/relationships/notesSlide" Target="/ppt/notesSlides/notesSlide10.xml" Id="Rc0ef5f538c2d444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9a7c69aeaf4c00" /><Relationship Type="http://schemas.openxmlformats.org/officeDocument/2006/relationships/notesSlide" Target="/ppt/notesSlides/notesSlide11.xml" Id="Rd127031a5efd4c6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e085bd5c34ea9" /><Relationship Type="http://schemas.openxmlformats.org/officeDocument/2006/relationships/notesSlide" Target="/ppt/notesSlides/notesSlide12.xml" Id="Rf1560b0a5e87405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BASE, общий спрос</c:v>
          </c:tx>
          <c:spPr>
            <a:ln xmlns:a="http://schemas.openxmlformats.org/drawingml/2006/main" w="38100">
              <a:solidFill>
                <a:srgbClr val="4E7FFF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4E7FFF"/>
              </a:solidFill>
            </c:spPr>
          </c:marker>
          <c:cat>
            <c:numRef>
              <c:f>'Chart Data'!$A$2:$A$7</c:f>
              <c:numCache>
                <c:formatCode>General</c:formatCode>
                <c:ptCount val="6"/>
                <c:pt idx="0">
                  <c:v>2035</c:v>
                </c:pt>
                <c:pt idx="1">
                  <c:v>2036</c:v>
                </c:pt>
                <c:pt idx="2">
                  <c:v>2037</c:v>
                </c:pt>
                <c:pt idx="3">
                  <c:v>2038</c:v>
                </c:pt>
                <c:pt idx="4">
                  <c:v>2039</c:v>
                </c:pt>
                <c:pt idx="5">
                  <c:v>2040</c:v>
                </c:pt>
              </c:numCache>
            </c:num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100</c:v>
                </c:pt>
                <c:pt idx="1">
                  <c:v>140</c:v>
                </c:pt>
                <c:pt idx="2">
                  <c:v>190</c:v>
                </c:pt>
                <c:pt idx="3">
                  <c:v>250</c:v>
                </c:pt>
                <c:pt idx="4">
                  <c:v>320</c:v>
                </c:pt>
                <c:pt idx="5">
                  <c:v>390</c:v>
                </c:pt>
              </c:numCache>
            </c:numRef>
          </c:val>
        </c:ser>
        <c:ser>
          <c:idx val="1"/>
          <c:order val="1"/>
          <c:tx>
            <c:v>BASE, критический</c:v>
          </c:tx>
          <c:spPr>
            <a:ln xmlns:a="http://schemas.openxmlformats.org/drawingml/2006/main" w="28575">
              <a:solidFill>
                <a:srgbClr val="FFB54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FFB547"/>
              </a:solidFill>
            </c:spPr>
          </c:marker>
          <c:cat>
            <c:numRef>
              <c:f>'Chart Data'!$C$2:$C$7</c:f>
              <c:numCache>
                <c:formatCode>General</c:formatCode>
                <c:ptCount val="6"/>
                <c:pt idx="0">
                  <c:v>2035</c:v>
                </c:pt>
                <c:pt idx="1">
                  <c:v>2036</c:v>
                </c:pt>
                <c:pt idx="2">
                  <c:v>2037</c:v>
                </c:pt>
                <c:pt idx="3">
                  <c:v>2038</c:v>
                </c:pt>
                <c:pt idx="4">
                  <c:v>2039</c:v>
                </c:pt>
                <c:pt idx="5">
                  <c:v>2040</c:v>
                </c:pt>
              </c:numCache>
            </c:num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80</c:v>
                </c:pt>
                <c:pt idx="1">
                  <c:v>105</c:v>
                </c:pt>
                <c:pt idx="2">
                  <c:v>135</c:v>
                </c:pt>
                <c:pt idx="3">
                  <c:v>170</c:v>
                </c:pt>
                <c:pt idx="4">
                  <c:v>210</c:v>
                </c:pt>
                <c:pt idx="5">
                  <c:v>250</c:v>
                </c:pt>
              </c:numCache>
            </c:numRef>
          </c:val>
        </c:ser>
        <c:ser>
          <c:idx val="2"/>
          <c:order val="2"/>
          <c:tx>
            <c:v>MANDATORY_STRESS, общий</c:v>
          </c:tx>
          <c:spPr>
            <a:ln xmlns:a="http://schemas.openxmlformats.org/drawingml/2006/main" w="38100">
              <a:solidFill>
                <a:srgbClr val="FF6B6B"/>
              </a:solidFill>
              <a:prstDash val="dash"/>
            </a:ln>
          </c:spPr>
          <c:marker>
            <c:symbol val="diamond"/>
            <c:size val="7"/>
            <c:spPr>
              <a:solidFill xmlns:a="http://schemas.openxmlformats.org/drawingml/2006/main">
                <a:srgbClr val="FF6B6B"/>
              </a:solidFill>
            </c:spPr>
          </c:marker>
          <c:cat>
            <c:numRef>
              <c:f>'Chart Data'!$E$2:$E$7</c:f>
              <c:numCache>
                <c:formatCode>General</c:formatCode>
                <c:ptCount val="6"/>
                <c:pt idx="0">
                  <c:v>2035</c:v>
                </c:pt>
                <c:pt idx="1">
                  <c:v>2036</c:v>
                </c:pt>
                <c:pt idx="2">
                  <c:v>2037</c:v>
                </c:pt>
                <c:pt idx="3">
                  <c:v>2038</c:v>
                </c:pt>
                <c:pt idx="4">
                  <c:v>2039</c:v>
                </c:pt>
                <c:pt idx="5">
                  <c:v>2040</c:v>
                </c:pt>
              </c:numCache>
            </c:numRef>
          </c:cat>
          <c:val>
            <c:numRef>
              <c:f>'Chart Data'!$F$2:$F$7</c:f>
              <c:numCache>
                <c:formatCode>General</c:formatCode>
                <c:ptCount val="6"/>
                <c:pt idx="0">
                  <c:v>100</c:v>
                </c:pt>
                <c:pt idx="1">
                  <c:v>140</c:v>
                </c:pt>
                <c:pt idx="2">
                  <c:v>190</c:v>
                </c:pt>
                <c:pt idx="3">
                  <c:v>287.5</c:v>
                </c:pt>
                <c:pt idx="4">
                  <c:v>368</c:v>
                </c:pt>
                <c:pt idx="5">
                  <c:v>448.5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AD3D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5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4E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3657A"/>
                    </a:solidFill>
                    <a:latin typeface="Arial"/>
                    <a:ea typeface="Arial"/>
                    <a:cs typeface="Arial"/>
                  </a:rPr>
                  <a:t>т/год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3657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5F7FA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57A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5F7FA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PV BASE</c:v>
          </c:tx>
          <c:spPr>
            <a:solidFill xmlns:a="http://schemas.openxmlformats.org/drawingml/2006/main">
              <a:srgbClr val="4E7FFF"/>
            </a:solidFill>
          </c:spPr>
          <c:cat>
            <c:strRef>
              <c:f>'Chart Data'!$A$2:$A$6</c:f>
              <c:strCache>
                <c:ptCount val="5"/>
                <c:pt idx="0">
                  <c:v>S10 · ISRU base</c:v>
                </c:pt>
                <c:pt idx="1">
                  <c:v>S25 · staged gates</c:v>
                </c:pt>
                <c:pt idx="2">
                  <c:v>S18 · A tracking</c:v>
                </c:pt>
                <c:pt idx="3">
                  <c:v>S14 · full early</c:v>
                </c:pt>
                <c:pt idx="4">
                  <c:v>S21 · reserve 60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9961.31</c:v>
                </c:pt>
                <c:pt idx="1">
                  <c:v>9948.01</c:v>
                </c:pt>
                <c:pt idx="2">
                  <c:v>11807.46</c:v>
                </c:pt>
                <c:pt idx="3">
                  <c:v>11974.84</c:v>
                </c:pt>
                <c:pt idx="4">
                  <c:v>12097.98</c:v>
                </c:pt>
              </c:numCache>
            </c:numRef>
          </c:val>
        </c:ser>
        <c:ser>
          <c:idx val="1"/>
          <c:order val="1"/>
          <c:tx>
            <c:v>PV STRESS</c:v>
          </c:tx>
          <c:spPr>
            <a:solidFill xmlns:a="http://schemas.openxmlformats.org/drawingml/2006/main">
              <a:srgbClr val="FFB547"/>
            </a:solidFill>
          </c:spPr>
          <c:cat>
            <c:strRef>
              <c:f>'Chart Data'!$C$2:$C$6</c:f>
              <c:strCache>
                <c:ptCount val="5"/>
                <c:pt idx="0">
                  <c:v>S10 · ISRU base</c:v>
                </c:pt>
                <c:pt idx="1">
                  <c:v>S25 · staged gates</c:v>
                </c:pt>
                <c:pt idx="2">
                  <c:v>S18 · A tracking</c:v>
                </c:pt>
                <c:pt idx="3">
                  <c:v>S14 · full early</c:v>
                </c:pt>
                <c:pt idx="4">
                  <c:v>S21 · reserve 60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11498.45</c:v>
                </c:pt>
                <c:pt idx="1">
                  <c:v>12348.74</c:v>
                </c:pt>
                <c:pt idx="2">
                  <c:v>13155.34</c:v>
                </c:pt>
                <c:pt idx="3">
                  <c:v>13168.41</c:v>
                </c:pt>
                <c:pt idx="4">
                  <c:v>13382.3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02033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4EC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AD3D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5F7FA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53657A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5F7FA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Закупки</c:v>
          </c:tx>
          <c:spPr>
            <a:solidFill xmlns:a="http://schemas.openxmlformats.org/drawingml/2006/main">
              <a:srgbClr val="4E7FFF"/>
            </a:solidFill>
          </c:spPr>
          <c:cat>
            <c:numRef>
              <c:f>'Chart Data'!$A$2:$A$7</c:f>
              <c:numCache>
                <c:formatCode>General</c:formatCode>
                <c:ptCount val="6"/>
                <c:pt idx="0">
                  <c:v>2035</c:v>
                </c:pt>
                <c:pt idx="1">
                  <c:v>2036</c:v>
                </c:pt>
                <c:pt idx="2">
                  <c:v>2037</c:v>
                </c:pt>
                <c:pt idx="3">
                  <c:v>2038</c:v>
                </c:pt>
                <c:pt idx="4">
                  <c:v>2039</c:v>
                </c:pt>
                <c:pt idx="5">
                  <c:v>2040</c:v>
                </c:pt>
              </c:numCache>
            </c:numRef>
          </c:cat>
          <c:val>
            <c:numRef>
              <c:f>'Chart Data'!$B$2:$B$7</c:f>
              <c:numCache>
                <c:formatCode>#,##0</c:formatCode>
                <c:ptCount val="6"/>
                <c:pt idx="0">
                  <c:v>1909.56</c:v>
                </c:pt>
                <c:pt idx="1">
                  <c:v>1280.28</c:v>
                </c:pt>
                <c:pt idx="2">
                  <c:v>1304.35</c:v>
                </c:pt>
                <c:pt idx="3">
                  <c:v>1640.52</c:v>
                </c:pt>
                <c:pt idx="4">
                  <c:v>2125.98</c:v>
                </c:pt>
                <c:pt idx="5">
                  <c:v>1714.11</c:v>
                </c:pt>
              </c:numCache>
            </c:numRef>
          </c:val>
        </c:ser>
        <c:ser>
          <c:idx val="1"/>
          <c:order val="1"/>
          <c:tx>
            <c:v>Резервирование</c:v>
          </c:tx>
          <c:spPr>
            <a:solidFill xmlns:a="http://schemas.openxmlformats.org/drawingml/2006/main">
              <a:srgbClr val="8E7CFF"/>
            </a:solidFill>
          </c:spPr>
          <c:cat>
            <c:numRef>
              <c:f>'Chart Data'!$C$2:$C$7</c:f>
              <c:numCache>
                <c:formatCode>General</c:formatCode>
                <c:ptCount val="6"/>
                <c:pt idx="0">
                  <c:v>2035</c:v>
                </c:pt>
                <c:pt idx="1">
                  <c:v>2036</c:v>
                </c:pt>
                <c:pt idx="2">
                  <c:v>2037</c:v>
                </c:pt>
                <c:pt idx="3">
                  <c:v>2038</c:v>
                </c:pt>
                <c:pt idx="4">
                  <c:v>2039</c:v>
                </c:pt>
                <c:pt idx="5">
                  <c:v>2040</c:v>
                </c:pt>
              </c:numCache>
            </c:numRef>
          </c:cat>
          <c:val>
            <c:numRef>
              <c:f>'Chart Data'!$D$2:$D$7</c:f>
              <c:numCache>
                <c:formatCode>#,##0</c:formatCode>
                <c:ptCount val="6"/>
                <c:pt idx="0">
                  <c:v>61.5</c:v>
                </c:pt>
                <c:pt idx="1">
                  <c:v>79.5</c:v>
                </c:pt>
                <c:pt idx="2">
                  <c:v>102</c:v>
                </c:pt>
                <c:pt idx="3">
                  <c:v>102</c:v>
                </c:pt>
                <c:pt idx="4">
                  <c:v>102</c:v>
                </c:pt>
                <c:pt idx="5">
                  <c:v>102</c:v>
                </c:pt>
              </c:numCache>
            </c:numRef>
          </c:val>
        </c:ser>
        <c:ser>
          <c:idx val="2"/>
          <c:order val="2"/>
          <c:tx>
            <c:v>CAPEX</c:v>
          </c:tx>
          <c:spPr>
            <a:solidFill xmlns:a="http://schemas.openxmlformats.org/drawingml/2006/main">
              <a:srgbClr val="FFB547"/>
            </a:solidFill>
          </c:spPr>
          <c:cat>
            <c:numRef>
              <c:f>'Chart Data'!$E$2:$E$7</c:f>
              <c:numCache>
                <c:formatCode>General</c:formatCode>
                <c:ptCount val="6"/>
                <c:pt idx="0">
                  <c:v>2035</c:v>
                </c:pt>
                <c:pt idx="1">
                  <c:v>2036</c:v>
                </c:pt>
                <c:pt idx="2">
                  <c:v>2037</c:v>
                </c:pt>
                <c:pt idx="3">
                  <c:v>2038</c:v>
                </c:pt>
                <c:pt idx="4">
                  <c:v>2039</c:v>
                </c:pt>
                <c:pt idx="5">
                  <c:v>2040</c:v>
                </c:pt>
              </c:numCache>
            </c:numRef>
          </c:cat>
          <c:val>
            <c:numRef>
              <c:f>'Chart Data'!$F$2:$F$7</c:f>
              <c:numCache>
                <c:formatCode>#,##0</c:formatCode>
                <c:ptCount val="6"/>
                <c:pt idx="0">
                  <c:v>0</c:v>
                </c:pt>
                <c:pt idx="1">
                  <c:v>1430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3"/>
          <c:order val="3"/>
          <c:tx>
            <c:v>Хранение и OPEX</c:v>
          </c:tx>
          <c:spPr>
            <a:solidFill xmlns:a="http://schemas.openxmlformats.org/drawingml/2006/main">
              <a:srgbClr val="4FD09A"/>
            </a:solidFill>
          </c:spPr>
          <c:cat>
            <c:numRef>
              <c:f>'Chart Data'!$G$2:$G$7</c:f>
              <c:numCache>
                <c:formatCode>General</c:formatCode>
                <c:ptCount val="6"/>
                <c:pt idx="0">
                  <c:v>2035</c:v>
                </c:pt>
                <c:pt idx="1">
                  <c:v>2036</c:v>
                </c:pt>
                <c:pt idx="2">
                  <c:v>2037</c:v>
                </c:pt>
                <c:pt idx="3">
                  <c:v>2038</c:v>
                </c:pt>
                <c:pt idx="4">
                  <c:v>2039</c:v>
                </c:pt>
                <c:pt idx="5">
                  <c:v>2040</c:v>
                </c:pt>
              </c:numCache>
            </c:numRef>
          </c:cat>
          <c:val>
            <c:numRef>
              <c:f>'Chart Data'!$H$2:$H$7</c:f>
              <c:numCache>
                <c:formatCode>#,##0</c:formatCode>
                <c:ptCount val="6"/>
                <c:pt idx="0">
                  <c:v>24.45</c:v>
                </c:pt>
                <c:pt idx="1">
                  <c:v>29</c:v>
                </c:pt>
                <c:pt idx="2">
                  <c:v>40.7</c:v>
                </c:pt>
                <c:pt idx="3">
                  <c:v>117.06</c:v>
                </c:pt>
                <c:pt idx="4">
                  <c:v>123.22</c:v>
                </c:pt>
                <c:pt idx="5">
                  <c:v>123.48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8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AD3D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2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4E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3657A"/>
                    </a:solidFill>
                    <a:latin typeface="Arial"/>
                    <a:ea typeface="Arial"/>
                    <a:cs typeface="Arial"/>
                  </a:rPr>
                  <a:t>млн у.е.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3657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500"/>
      </c:valAx>
      <c:spPr>
        <a:solidFill xmlns:a="http://schemas.openxmlformats.org/drawingml/2006/main">
          <a:srgbClr val="F5F7FA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57A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5F7FA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Дефицит, т</c:v>
          </c:tx>
          <c:spPr>
            <a:solidFill xmlns:a="http://schemas.openxmlformats.org/drawingml/2006/main">
              <a:srgbClr val="FF6B6B"/>
            </a:solidFill>
          </c:spPr>
          <c:cat>
            <c:strRef>
              <c:f>'Chart Data'!$A$2:$A$4</c:f>
              <c:strCache>
                <c:ptCount val="3"/>
                <c:pt idx="0">
                  <c:v>BASE, адаптирован</c:v>
                </c:pt>
                <c:pt idx="1">
                  <c:v>STRESS, адаптирован</c:v>
                </c:pt>
                <c:pt idx="2">
                  <c:v>STRESS, фиксированный BASE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130.69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F7FAFC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157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55718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8111D"/>
        </a:solidFill>
      </c:spPr>
    </c:plotArea>
    <c:plotVisOnly val="1"/>
  </c:chart>
  <c:spPr>
    <a:solidFill xmlns:a="http://schemas.openxmlformats.org/drawingml/2006/main">
      <a:srgbClr val="08111D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1deccdb634438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F01A66-C086-4A9B-A79F-CC9D7F9B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D">
              <a:alpha val="90196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BDF66A-6341-4387-938B-147606CC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4F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ECC89-6801-4506-AE97-E4988471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571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Топливный</a:t>
            </a:r>
          </a:p>
          <a:p xmlns:a="http://schemas.openxmlformats.org/drawingml/2006/main">
            <a:pPr algn="l">
              <a:defRPr sz="4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космоконтур 2035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631A8-7E9C-48D3-864D-969270FF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6E4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6E4F2"/>
                </a:solidFill>
                <a:latin typeface="Arial"/>
                <a:ea typeface="Arial"/>
                <a:cs typeface="Arial"/>
              </a:rPr>
              <a:t>Система поддержки решений для снабжения</a:t>
            </a:r>
          </a:p>
          <a:p xmlns:a="http://schemas.openxmlformats.org/drawingml/2006/main">
            <a:pPr algn="l">
              <a:defRPr sz="1875" b="0">
                <a:solidFill>
                  <a:srgbClr val="D6E4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6E4F2"/>
                </a:solidFill>
                <a:latin typeface="Arial"/>
                <a:ea typeface="Arial"/>
                <a:cs typeface="Arial"/>
              </a:rPr>
              <a:t>орбитального топливного узла в 2035–2040 гг.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BAD3F-97C1-4059-95AA-55221CEF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B54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547"/>
                </a:solidFill>
                <a:latin typeface="Arial"/>
                <a:ea typeface="Arial"/>
                <a:cs typeface="Arial"/>
              </a:rPr>
              <a:t>Финальная стратегия S10 · ISRU base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21ACF-696D-4155-A73F-F86AFC8A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9 961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BE145E-2868-45DD-998B-999242CC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9592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PV BASE, млн у.е.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F83EC-8EE0-43A5-A457-D0B97181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95300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42D4F4"/>
                </a:solidFill>
                <a:latin typeface="Arial"/>
                <a:ea typeface="Arial"/>
                <a:cs typeface="Arial"/>
              </a:rPr>
              <a:t>1.000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519B44-2962-4383-9569-5B48BE32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495925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минимальный SL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3A86B7-FEC9-48D0-BAFD-074058A3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53000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4FD09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4FD09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4D4515-13EF-46F7-8573-7AFEB1FA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95925"/>
            <a:ext cx="157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hard-нарушений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520A5F-8E5C-499E-A8B8-22F2ADFA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341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КосмоХакатон 2026 · Кейс 2</a:t>
            </a:r>
          </a:p>
        </p:txBody>
      </p:sp>
    </p:spTree>
    <p:extLst>
      <p:ext uri="{BB962C8B-B14F-4D97-AF65-F5344CB8AC3E}">
        <p14:creationId xmlns:p14="http://schemas.microsoft.com/office/powerpoint/2010/main" val="17118104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F673AB-E0D0-4944-9565-218828E2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Рост спроса встречается с жёсткими физическими ограничениями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546A05-E2A0-4824-A472-FD0E9EB6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E7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23875" y="1285875"/>
          <a:ext xmlns:a="http://schemas.openxmlformats.org/drawingml/2006/main" cx="7239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26cfa9e2a0c47a4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A61E10-1B13-414A-A2BA-0ABA1CCA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6685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E7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4E7FFF"/>
                </a:solidFill>
                <a:latin typeface="Arial"/>
                <a:ea typeface="Arial"/>
                <a:cs typeface="Arial"/>
              </a:rPr>
              <a:t>+290%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78CF0-83F4-4E80-AFD7-8F46B368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85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рост BASE: 100 → 390 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1BCE35-A8A1-4A30-9A1D-B0FC347B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3335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Контур должен одновременно соблюдать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1E8B9-342C-4717-BBAA-D09A59B4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66900"/>
            <a:ext cx="342900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300"/>
              </a:spcAft>
              <a:buChar char="•"/>
              <a:defRPr sz="14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SL_total ≥ 97%, SL_critical ≥ 99%</a:t>
            </a:r>
          </a:p>
          <a:p xmlns:a="http://schemas.openxmlformats.org/drawingml/2006/main">
            <a:pPr marL="228600" indent="-114300" algn="l">
              <a:spcAft>
                <a:spcPts val="1300"/>
              </a:spcAft>
              <a:buChar char="•"/>
              <a:defRPr sz="14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Физический резерв на 45 дней</a:t>
            </a:r>
          </a:p>
          <a:p xmlns:a="http://schemas.openxmlformats.org/drawingml/2006/main">
            <a:pPr marL="228600" indent="-114300" algn="l">
              <a:spcAft>
                <a:spcPts val="1300"/>
              </a:spcAft>
              <a:buChar char="•"/>
              <a:defRPr sz="14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CAPEX ≤ 1 800 млн к 2037 году</a:t>
            </a:r>
          </a:p>
          <a:p xmlns:a="http://schemas.openxmlformats.org/drawingml/2006/main">
            <a:pPr marL="228600" indent="-114300" algn="l">
              <a:spcAft>
                <a:spcPts val="1300"/>
              </a:spcAft>
              <a:buChar char="•"/>
              <a:defRPr sz="14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Take-or-pay A: 70% резерва</a:t>
            </a:r>
          </a:p>
          <a:p xmlns:a="http://schemas.openxmlformats.org/drawingml/2006/main">
            <a:pPr marL="228600" indent="-114300" algn="l">
              <a:spcAft>
                <a:spcPts val="1300"/>
              </a:spcAft>
              <a:buChar char="•"/>
              <a:defRPr sz="14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Lead time каналов: 4–24 месяца</a:t>
            </a:r>
          </a:p>
          <a:p xmlns:a="http://schemas.openxmlformats.org/drawingml/2006/main">
            <a:pPr marL="228600" indent="-114300" algn="l">
              <a:spcAft>
                <a:spcPts val="1300"/>
              </a:spcAft>
              <a:buChar char="•"/>
              <a:defRPr sz="142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Потери в стрессе ≤ 2% с 2038 года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112DB3-2414-477D-A150-78779009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19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6B6B"/>
                </a:solidFill>
                <a:latin typeface="Arial"/>
                <a:ea typeface="Arial"/>
                <a:cs typeface="Arial"/>
              </a:rPr>
              <a:t>Стресс с 2038 года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E7844-9966-494C-8966-EC2494A0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52450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спрос ×1.15 · цены A/B ×1.25 · ISRU 55%/75%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FEB3AC-7DD4-44AB-A548-FD206BE9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D2BE81-BE24-41E3-BE2F-DE240711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715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Источник: data/demand.csv · data/constraints.csv · configs/mandatory_stress.yaml</a:t>
            </a:r>
          </a:p>
        </p:txBody>
      </p:sp>
    </p:spTree>
    <p:extLst>
      <p:ext uri="{BB962C8B-B14F-4D97-AF65-F5344CB8AC3E}">
        <p14:creationId xmlns:p14="http://schemas.microsoft.com/office/powerpoint/2010/main" val="937204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6C7B71-43EB-41BC-B347-9AB82711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Оператор проходит полный сценарий без разработчика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23A36-C113-458A-943E-6C8D2142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2D4F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fe21119a094693"/>
          <a:srcRect xmlns:a="http://schemas.openxmlformats.org/drawingml/2006/main" l="0" t="1872" r="0" b="18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76750" y="1200150"/>
            <a:ext cx="7124700" cy="4762500"/>
          </a:xfrm>
          <a:prstGeom xmlns:a="http://schemas.openxmlformats.org/drawingml/2006/main" prst="roundRect">
            <a:avLst>
              <a:gd name="adj" fmla="val 3600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360FD-F229-4B5F-994E-048B24EF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200150"/>
            <a:ext cx="7124700" cy="4762500"/>
          </a:xfrm>
          <a:prstGeom xmlns:a="http://schemas.openxmlformats.org/drawingml/2006/main" prst="roundRect">
            <a:avLst>
              <a:gd name="adj" fmla="val 36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36516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4FFE2C-1984-4F2F-9C82-BC26839E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CD869-18C6-472C-B6E6-139A1449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3E3C33-7088-4AE3-9987-9E4EB669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668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Открыть FINAL BASE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393EE7-F4FF-4F61-85A1-50273C85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09725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Готовый план загружается одной кнопкой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941160-E14A-4088-AD47-FD9046FC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838325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51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B5AD49-2E30-4ECA-97AA-EFB867BC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5F2937-A230-4827-A638-3211B084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BC84C-0BB1-4E20-AC4F-DADC7773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98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Изменить решение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A6B42-B637-4643-B7C7-CB895CE9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52725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Заказ, резерв или инвестиция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A94EF6-43A0-4D82-B3A3-12A5E89A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81325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51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F82C9A-39A6-41AE-A851-41ABD696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F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C7F89E-9202-49E1-B8EC-AA9B08A2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BF0195-A0BD-4526-A09A-FBE706F9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528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Сравнить сценарии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244869-E3C3-41FD-82A2-34A2107A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95725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BASE, обязательный стресс и TEAM_*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F916AB-C7CD-444F-85A6-4C257451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24325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516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C3360A-6BE0-4364-8BD7-BBD309C9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D09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00213B-C873-4138-A67B-E1289081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393D0F-BC3B-4E98-8579-6BE931E1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958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Сохранить и выгрузить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9D6003-2D27-4A9B-8D90-801EF7BC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38725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Повторное открытие, CSV и XLSX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0F69DE-96F7-45EB-8899-7AEFE337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2D4F4"/>
                </a:solidFill>
                <a:latin typeface="Arial"/>
                <a:ea typeface="Arial"/>
                <a:cs typeface="Arial"/>
              </a:rPr>
              <a:t>UI = экспорт = results/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ED239E-EC7C-4B28-9292-CEF92337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6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DFE831-8730-42EE-9A55-5F430AC3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715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Фактический интерфейс: app/main.py · инструкция: docs/ИНСТРУКЦИЯ.md</a:t>
            </a:r>
          </a:p>
        </p:txBody>
      </p:sp>
    </p:spTree>
    <p:extLst>
      <p:ext uri="{BB962C8B-B14F-4D97-AF65-F5344CB8AC3E}">
        <p14:creationId xmlns:p14="http://schemas.microsoft.com/office/powerpoint/2010/main" val="16593620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6E8247-0E83-43A6-ABA7-495D09BF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Единый расчётный путь связывает данные, решения и доказательства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277AF-F81F-43A1-B127-125AEEF6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2D4F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1794A-965D-4D83-8F0F-A7D013BB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38375"/>
            <a:ext cx="1571625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3283D"/>
          </a:solidFill>
          <a:ln xmlns:a="http://schemas.openxmlformats.org/drawingml/2006/main" w="19050">
            <a:solidFill>
              <a:srgbClr val="4E7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136474-81CF-4C0C-AC30-E38F1BB1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00300"/>
            <a:ext cx="1304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E7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FFF"/>
                </a:solidFill>
                <a:latin typeface="Arial"/>
                <a:ea typeface="Arial"/>
                <a:cs typeface="Arial"/>
              </a:rPr>
              <a:t>CASE_INPUT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87B316-C3F9-4E99-B3D0-A3346494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1323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спрос · каналы</a:t>
            </a:r>
          </a:p>
          <a:p xmlns:a="http://schemas.openxmlformats.org/drawingml/2006/main">
            <a:pPr algn="ctr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хранилище · лимиты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88D209-497C-4F58-83EA-62638609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238375"/>
            <a:ext cx="1571625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3283D"/>
          </a:solidFill>
          <a:ln xmlns:a="http://schemas.openxmlformats.org/drawingml/2006/main" w="19050">
            <a:solidFill>
              <a:srgbClr val="8E7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4DBAB6-3B40-4274-AE28-5DC1D3D1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400300"/>
            <a:ext cx="1304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E7C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E7CFF"/>
                </a:solidFill>
                <a:latin typeface="Arial"/>
                <a:ea typeface="Arial"/>
                <a:cs typeface="Arial"/>
              </a:rPr>
              <a:t>План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DE7A71-6BB1-4A77-B28C-27464B89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95600"/>
            <a:ext cx="1323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заказы · резерв</a:t>
            </a:r>
          </a:p>
          <a:p xmlns:a="http://schemas.openxmlformats.org/drawingml/2006/main">
            <a:pPr algn="ctr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инвестиции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F8220E-3EFE-436B-AA0A-79B89C05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238375"/>
            <a:ext cx="1571625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3283D"/>
          </a:solidFill>
          <a:ln xmlns:a="http://schemas.openxmlformats.org/drawingml/2006/main" w="19050">
            <a:solidFill>
              <a:srgbClr val="42D4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EA49F6-99B7-46A3-AFB0-4578EDE4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400300"/>
            <a:ext cx="1304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2D4F4"/>
                </a:solidFill>
                <a:latin typeface="Arial"/>
                <a:ea typeface="Arial"/>
                <a:cs typeface="Arial"/>
              </a:rPr>
              <a:t>run_plan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818231-E4FD-4779-812E-08BBD6CA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95600"/>
            <a:ext cx="1323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поставки · баланс</a:t>
            </a:r>
          </a:p>
          <a:p xmlns:a="http://schemas.openxmlformats.org/drawingml/2006/main">
            <a:pPr algn="ctr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сервис · затраты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C424A9-9EA4-41E0-8CD0-472B5847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238375"/>
            <a:ext cx="1571625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3283D"/>
          </a:solidFill>
          <a:ln xmlns:a="http://schemas.openxmlformats.org/drawingml/2006/main" w="19050">
            <a:solidFill>
              <a:srgbClr val="FFB5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095D9F-53AE-4A17-8061-9D56D7E4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00300"/>
            <a:ext cx="1304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B54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547"/>
                </a:solidFill>
                <a:latin typeface="Arial"/>
                <a:ea typeface="Arial"/>
                <a:cs typeface="Arial"/>
              </a:rPr>
              <a:t>Проверки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32FF95-04AC-46C3-936B-FA7506ED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95600"/>
            <a:ext cx="1323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полный passed-list</a:t>
            </a:r>
          </a:p>
          <a:p xmlns:a="http://schemas.openxmlformats.org/drawingml/2006/main">
            <a:pPr algn="ctr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и нарушения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987345-C4AA-455D-9000-4AC282ED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238375"/>
            <a:ext cx="1571625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3283D"/>
          </a:solidFill>
          <a:ln xmlns:a="http://schemas.openxmlformats.org/drawingml/2006/main" w="19050">
            <a:solidFill>
              <a:srgbClr val="FF6B6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73BA75-55E4-454B-AF42-8186753D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400300"/>
            <a:ext cx="1304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6B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6B6B"/>
                </a:solidFill>
                <a:latin typeface="Arial"/>
                <a:ea typeface="Arial"/>
                <a:cs typeface="Arial"/>
              </a:rPr>
              <a:t>Сценарии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42C70F-8DFD-496D-9711-08E33D4A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95600"/>
            <a:ext cx="1323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BASE · STRESS</a:t>
            </a:r>
          </a:p>
          <a:p xmlns:a="http://schemas.openxmlformats.org/drawingml/2006/main">
            <a:pPr algn="ctr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10 TEAM_*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91392A-C79A-484B-BE51-2E32F585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238375"/>
            <a:ext cx="1571625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3283D"/>
          </a:solidFill>
          <a:ln xmlns:a="http://schemas.openxmlformats.org/drawingml/2006/main" w="19050">
            <a:solidFill>
              <a:srgbClr val="4FD09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71AFEA-DC0C-408E-A592-8C68B15C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400300"/>
            <a:ext cx="1304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FD09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D09A"/>
                </a:solidFill>
                <a:latin typeface="Arial"/>
                <a:ea typeface="Arial"/>
                <a:cs typeface="Arial"/>
              </a:rPr>
              <a:t>Выход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1A8C99-9B26-484C-86FB-39B5D9CF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895600"/>
            <a:ext cx="1323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UI · CSV/XLSX</a:t>
            </a:r>
          </a:p>
          <a:p xmlns:a="http://schemas.openxmlformats.org/drawingml/2006/main">
            <a:pPr algn="ctr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риски · сравнение</a:t>
            </a:r>
          </a:p>
        </p:txBody>
      </p:sp>
      <p:cxnSp>
        <p:nvCxnSpPr>
          <p:cNvPr id="52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095500" y="2952750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718A"/>
            </a:solidFill>
            <a:prstDash val="solid"/>
            <a:head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019550" y="2952750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718A"/>
            </a:solidFill>
            <a:prstDash val="solid"/>
            <a:head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43600" y="2952750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718A"/>
            </a:solidFill>
            <a:prstDash val="solid"/>
            <a:head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867650" y="2952750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718A"/>
            </a:solidFill>
            <a:prstDash val="solid"/>
            <a:head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791700" y="2952750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718A"/>
            </a:solidFill>
            <a:prstDash val="solid"/>
            <a:head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2009E2-59F8-488B-831B-4FE130D0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57675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Сценарии применяются к копии данных. CASE_INPUT не мутируется.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579DD3-B543-4BB4-8A08-6FF2A25F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781550"/>
            <a:ext cx="758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6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3F2681-3588-4F47-A9EC-9D3BFE40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010150"/>
            <a:ext cx="6819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B54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B547"/>
                </a:solidFill>
                <a:latin typeface="Arial"/>
                <a:ea typeface="Arial"/>
                <a:cs typeface="Arial"/>
              </a:rPr>
              <a:t>reserved ≠ ordered ≠ delivered ≠ served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81365A-B2C4-4799-83AD-044BDC66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5054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Главное семантическое различение модели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23A8D6-314A-4BF6-93F8-07C20143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6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E15B3A-C340-412B-A4AC-2A2AF934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715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Источник: src/engine/ · core_api v1.0 · docs/note/01_architecture.md</a:t>
            </a:r>
          </a:p>
        </p:txBody>
      </p:sp>
    </p:spTree>
    <p:extLst>
      <p:ext uri="{BB962C8B-B14F-4D97-AF65-F5344CB8AC3E}">
        <p14:creationId xmlns:p14="http://schemas.microsoft.com/office/powerpoint/2010/main" val="18426649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E2D926-4F23-43FF-847F-9A830B2C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S10 выигрывает после скрининга 25 альтернатив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7B7A4-6EE9-4FB2-B363-21B1D29E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E7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35C673-F03C-4557-9F37-140F3FE0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066800"/>
            <a:ext cx="1000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4E7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4E7FFF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D05355-6F05-4406-B0CB-BE35AC98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стратегий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16693F-6AF7-42BF-94E5-CDD8978C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066800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8E7C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8E7C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20487F-192E-4A35-974E-8556675C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6478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финалистов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0E96E9-121F-4602-9618-CFAA2964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066800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4FD09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4FD09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DA23F2-B4D3-421D-B88E-34F56C2E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6478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выбор: S10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4F0F1-5CF7-4005-819F-1080EFE1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1715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4FD09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FD09A"/>
                </a:solidFill>
                <a:latin typeface="Arial"/>
                <a:ea typeface="Arial"/>
                <a:cs typeface="Arial"/>
              </a:rPr>
              <a:t>MCDA 0.970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97D64A-A82A-4796-AFAC-C993BB39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5735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лидер во всех наборах весов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666750" y="2238375"/>
          <a:ext xmlns:a="http://schemas.openxmlformats.org/drawingml/2006/main" cx="10810875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ccb85e560fc497a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E0D0F1-BCED-4FC1-B607-EE784F25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791200"/>
            <a:ext cx="571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09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7980EF-116D-4AB5-8841-E916D866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3405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S25 дешевле в BASE на 13.31 млн, но дороже в STRESS на 850.28 млн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339858-3ADA-4054-A6BB-40D0B86A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74357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Headroom S10: 370 млн против 280 млн у S25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F57D00-8DA5-4069-BEE4-04CE8B7F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025DDB-2448-40BF-9189-DA9BC640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715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Источник: results/exports/top5_detailed.csv · results/exports/mcda.csv</a:t>
            </a:r>
          </a:p>
        </p:txBody>
      </p:sp>
    </p:spTree>
    <p:extLst>
      <p:ext uri="{BB962C8B-B14F-4D97-AF65-F5344CB8AC3E}">
        <p14:creationId xmlns:p14="http://schemas.microsoft.com/office/powerpoint/2010/main" val="16288416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5D084EF-0707-4DED-AED3-3CA9CD20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Финальная стратегия сочетает дешёвую базу, гибкость и ISRU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C15297-4718-4D0F-9EA8-F237E7BE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2D4F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B99142-B2DE-45DB-8470-FD284759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1430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E7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E7F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CDA081-9FF3-4649-8F6E-A95A47E3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1430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Earth-Core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011680-B48F-450D-8B9B-D633B82C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4573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резерв 100 → 140 → 190 т/год · TOP 70%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43BCDB-C76D-497E-AB4F-E3B64FFE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478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FD09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FD09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DB0766-42B5-4F9A-9454-C2015AE5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4785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Earth-Flex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806BB4-A70E-4415-9B26-428C4130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6217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110 т/год · lead time 4 мес · канал адаптации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DF85A4-0C75-4064-A18E-561AFC7F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527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B54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B547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BE263-9ED5-4159-BC38-00A23BB4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527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Lunar-ISRU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28734C-32AD-4795-985A-18A1CA00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670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120 т/год с 2038 · CAPEX 1 250 млн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36EDD0-3334-4216-AB04-844217C6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57550"/>
            <a:ext cx="49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2D4F4"/>
                </a:solidFill>
                <a:latin typeface="Arial"/>
                <a:ea typeface="Arial"/>
                <a:cs typeface="Arial"/>
              </a:rPr>
              <a:t>ZBO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3ED620-6AA8-431A-8EE0-FA68D1A0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5755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Хранение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E77BC5-C5FD-4CF9-A6E4-0E7C457E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718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потери 4.5% → 1.2% · CAPEX 180 млн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972DEB-7E1E-4249-8D22-7CE8F1F0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81250"/>
            <a:ext cx="552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571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5C72F5-C148-4B0D-8D09-3240D01A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209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5E624C-BABE-4898-AF22-2EF6DAE5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6479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2035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DC6747-31BA-4D90-BE0F-52A0EB3F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209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E82FEB-FD75-4108-9EC1-522F6C43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479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2036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EF8C7E-09D4-4692-85AB-F1DAF647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209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303357-467F-4F93-822C-5C2D05DE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479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2037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F29938-DC14-4731-B4A4-90F6D331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209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D09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03356D-F89B-4311-9493-BCEBBCBA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479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2038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5DF6FA-77A7-40D3-A370-50236F4A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209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7DCC93-2D29-4420-89EB-14847F20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479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2039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414AAB-C57D-4919-B30A-D5BB463C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2209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FF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3586F0-51DB-4C37-AC54-56DDB0C2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6479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2040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D0DC6A-E8B1-464C-8F44-482E6681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3811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7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E7FFF"/>
                </a:solidFill>
                <a:latin typeface="Arial"/>
                <a:ea typeface="Arial"/>
                <a:cs typeface="Arial"/>
              </a:rPr>
              <a:t>G1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E2754E-8E0B-4686-B4DB-D2F418B0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38300"/>
            <a:ext cx="157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A/B стартуют</a:t>
            </a:r>
          </a:p>
          <a:p xmlns:a="http://schemas.openxmlformats.org/drawingml/2006/main">
            <a:pPr algn="l">
              <a:defRPr sz="12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Опцион C не покупаем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8B52F0-D568-44A1-96F2-CDBF1D29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623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54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547"/>
                </a:solidFill>
                <a:latin typeface="Arial"/>
                <a:ea typeface="Arial"/>
                <a:cs typeface="Arial"/>
              </a:rPr>
              <a:t>G2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1F5290-20F3-4958-8FB7-BA68ADD4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38525"/>
            <a:ext cx="133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2036-06</a:t>
            </a:r>
          </a:p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ZBO + ISRU</a:t>
            </a:r>
          </a:p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1 430 млн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8A28E8-4741-4B77-B2A8-8326A0F6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3811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2D4F4"/>
                </a:solidFill>
                <a:latin typeface="Arial"/>
                <a:ea typeface="Arial"/>
                <a:cs typeface="Arial"/>
              </a:rPr>
              <a:t>G3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18C6B4-562A-4CF6-B960-B7280315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3830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до 2037-12</a:t>
            </a:r>
          </a:p>
          <a:p xmlns:a="http://schemas.openxmlformats.org/drawingml/2006/main">
            <a:pPr algn="l">
              <a:defRPr sz="12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отбор D &gt; 217 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4E59D6-2C4A-4379-AE65-9F2C3867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623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FD09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D09A"/>
                </a:solidFill>
                <a:latin typeface="Arial"/>
                <a:ea typeface="Arial"/>
                <a:cs typeface="Arial"/>
              </a:rPr>
              <a:t>G4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E76A8A-CA75-4844-957F-F52DB258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38525"/>
            <a:ext cx="152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2038-01</a:t>
            </a:r>
          </a:p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доля D ≤ 0.60:</a:t>
            </a:r>
          </a:p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вернуться к 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87998F-EF91-4271-B999-C7B397DA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13811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6B6B"/>
                </a:solidFill>
                <a:latin typeface="Arial"/>
                <a:ea typeface="Arial"/>
                <a:cs typeface="Arial"/>
              </a:rPr>
              <a:t>G5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BD756D-1E3C-475F-BCD3-1F008DE3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163830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2040</a:t>
            </a:r>
          </a:p>
          <a:p xmlns:a="http://schemas.openxmlformats.org/drawingml/2006/main">
            <a:pPr algn="l">
              <a:defRPr sz="12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пересмотр TOP 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28F33D-CA22-43D1-8C49-33935F84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16B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B1E262-ED1B-450C-9197-705D523E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9587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1 430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0F8C20-B6E1-4005-AFD9-D0AB18F3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38800"/>
            <a:ext cx="2047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CAPEX к 2037, млн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109889-9746-4630-B2AB-A19E8E3C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09587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4FD09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4FD09A"/>
                </a:solidFill>
                <a:latin typeface="Arial"/>
                <a:ea typeface="Arial"/>
                <a:cs typeface="Arial"/>
              </a:rPr>
              <a:t>370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5FA995-DD71-4FB8-ABC3-F83C3AD8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63880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CAPEX headroom, млн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A689DD7-1FCA-4E90-A103-F067D384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9587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B54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B547"/>
                </a:solidFill>
                <a:latin typeface="Arial"/>
                <a:ea typeface="Arial"/>
                <a:cs typeface="Arial"/>
              </a:rPr>
              <a:t>223.7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B0CED8-A58E-42C4-976E-EBAF4E33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3880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отбор ISRU в BASE, 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7BB98B-C65E-4807-8C9D-50FF38EC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09587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42D4F4"/>
                </a:solidFill>
                <a:latin typeface="Arial"/>
                <a:ea typeface="Arial"/>
                <a:cs typeface="Arial"/>
              </a:rPr>
              <a:t>217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BEFCBD4-FC05-4C53-9477-410F888C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63880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порог рациональности, 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63DB33B-D3B1-4419-8DFE-9DFEE1ED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6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5B87689-3857-42E8-ADC0-B1C87D1F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715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Источник: results/plans/FINAL_BASE.json · docs/note/12_roadmap_budget.md</a:t>
            </a:r>
          </a:p>
        </p:txBody>
      </p:sp>
    </p:spTree>
    <p:extLst>
      <p:ext uri="{BB962C8B-B14F-4D97-AF65-F5344CB8AC3E}">
        <p14:creationId xmlns:p14="http://schemas.microsoft.com/office/powerpoint/2010/main" val="20873635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196164-CD1D-471B-B8C5-30BA9F2A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Экономика прозрачна по годам и компонентам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1267FE-0D91-4AEA-A6E1-DBC797E6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E7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F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28625" y="1238250"/>
          <a:ext xmlns:a="http://schemas.openxmlformats.org/drawingml/2006/main" cx="762000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60b86ef0f6f4c37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B839E-5575-483A-A4F4-33564944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2668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7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E7FFF"/>
                </a:solidFill>
                <a:latin typeface="Arial"/>
                <a:ea typeface="Arial"/>
                <a:cs typeface="Arial"/>
              </a:rPr>
              <a:t>BASE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F7B1E4-4548-45F9-AD06-A7D5A7A1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954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9 961.31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253CB6-C438-4317-B07C-815540B4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383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PV расходов, млн у.е.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FBE14B-A7B4-4D1A-8F0A-3ACF8B88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003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4E7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4E7FFF"/>
                </a:solidFill>
                <a:latin typeface="Arial"/>
                <a:ea typeface="Arial"/>
                <a:cs typeface="Arial"/>
              </a:rPr>
              <a:t>8.929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DA553F-B4DE-4DA1-85A0-8E1FCA0F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432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cost/served, млн у.е./т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34FD36-8100-461B-AAAE-5D19E386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052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4FD09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4FD09A"/>
                </a:solidFill>
                <a:latin typeface="Arial"/>
                <a:ea typeface="Arial"/>
                <a:cs typeface="Arial"/>
              </a:rPr>
              <a:t>370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BA09E9-9DC6-401D-9CF6-BAB8E2C0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481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CAPEX headroom, млн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430B29-EA97-411C-9E37-97511549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095875"/>
            <a:ext cx="3048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1D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B2D058-E715-48EB-A392-D56420FE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1530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A5A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A5A00"/>
                </a:solidFill>
                <a:latin typeface="Arial"/>
                <a:ea typeface="Arial"/>
                <a:cs typeface="Arial"/>
              </a:rPr>
              <a:t>824.6 млн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C28A15-53BB-4BB5-815C-8216E674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467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0551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0551C"/>
                </a:solidFill>
                <a:latin typeface="Arial"/>
                <a:ea typeface="Arial"/>
                <a:cs typeface="Arial"/>
              </a:rPr>
              <a:t>TOP-переплата A в 2040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61A02B-B18C-41E2-BF59-C8209512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7626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PV: r = 10%, t0 = 2035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ACD4FE-EEAE-4060-8836-9C9961D2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D38DE3-0F95-4A1E-9027-925ABF7F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715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Источник: results/exports/FINAL_BASE/financial_breakdown.csv · results/exports/top5_detailed.csv</a:t>
            </a:r>
          </a:p>
        </p:txBody>
      </p:sp>
    </p:spTree>
    <p:extLst>
      <p:ext uri="{BB962C8B-B14F-4D97-AF65-F5344CB8AC3E}">
        <p14:creationId xmlns:p14="http://schemas.microsoft.com/office/powerpoint/2010/main" val="17751741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878BD3-0402-48A4-93F9-2BBBA2E3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Адаптация заказов сохраняет сервис в обязательном стрессе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B624F1-C6EF-49C3-8A43-8D745F6F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2D4F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02EB7-4D20-449A-9F6A-CD8F543B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E7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FFF"/>
                </a:solidFill>
                <a:latin typeface="Arial"/>
                <a:ea typeface="Arial"/>
                <a:cs typeface="Arial"/>
              </a:rPr>
              <a:t>BASE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832DB2-AD26-457F-A203-F6C1CA8F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9 961.31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A5AE69-8395-455F-845F-8956F467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PV, млн у.е.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6392E-D60E-4DB9-BF17-299C0A9D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1906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B54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B547"/>
                </a:solidFill>
                <a:latin typeface="Arial"/>
                <a:ea typeface="Arial"/>
                <a:cs typeface="Arial"/>
              </a:rPr>
              <a:t>STRESS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7F2F53-8E68-4C9E-A6A1-3D2D811E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002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11 498.45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B654D1-F571-4FCC-80B0-10B85A76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336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B54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B547"/>
                </a:solidFill>
                <a:latin typeface="Arial"/>
                <a:ea typeface="Arial"/>
                <a:cs typeface="Arial"/>
              </a:rPr>
              <a:t>+1 537.14 млн · +15.4%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BEBF1F-E77C-40B6-ADA4-66079672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2D4F4"/>
                </a:solidFill>
                <a:latin typeface="Arial"/>
                <a:ea typeface="Arial"/>
                <a:cs typeface="Arial"/>
              </a:rPr>
              <a:t>В обоих адаптированных планах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8C646C-559C-405B-AFF9-79FC3FDA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561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SL_total = 1.000   ·   SL_critical = 1.000   ·   дефицит 0 т   ·   hard-нарушений 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0956C1-7339-4295-A03A-8B1748B3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57675"/>
            <a:ext cx="504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Архитектура решений не меняется.</a:t>
            </a:r>
          </a:p>
          <a:p xmlns:a="http://schemas.openxmlformats.org/drawingml/2006/main">
            <a:pPr algn="l">
              <a:defRPr sz="15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Помесячные заказы: 152 → 161.</a:t>
            </a:r>
          </a:p>
          <a:p xmlns:a="http://schemas.openxmlformats.org/drawingml/2006/main">
            <a:pPr algn="l">
              <a:defRPr sz="15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Целевой запас: 55.1 → 62.3 т.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6572250" y="1333500"/>
          <a:ext xmlns:a="http://schemas.openxmlformats.org/drawingml/2006/main" cx="49530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7ce269a92c84757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DC0475-4AD0-4649-BF8C-7450A813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38750"/>
            <a:ext cx="4953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283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958A6B-DC56-4346-B74F-0F3D9889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721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6B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6B6B"/>
                </a:solidFill>
                <a:latin typeface="Arial"/>
                <a:ea typeface="Arial"/>
                <a:cs typeface="Arial"/>
              </a:rPr>
              <a:t>Без адаптации: SL_total min 0.8486 · 5 нарушений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0FFF87-08EE-4F00-8C83-4051EEAD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6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E0F7C1-2410-4C5A-A41D-114A8017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715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Источник: results/scenario_comparison.csv · results/stress/P01_summary.csv</a:t>
            </a:r>
          </a:p>
        </p:txBody>
      </p:sp>
    </p:spTree>
    <p:extLst>
      <p:ext uri="{BB962C8B-B14F-4D97-AF65-F5344CB8AC3E}">
        <p14:creationId xmlns:p14="http://schemas.microsoft.com/office/powerpoint/2010/main" val="18013491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972AFE-CF45-4983-BD1D-1A9F9566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Три риска определяют план действий оператора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F3E2BB-E813-415F-A4A7-F0C44071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E7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FF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08EA5-6215-4A11-BB1B-FBB491C2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Последствия и меры рассчитаны тем же ядром, что и финальный план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857500"/>
                <a:gridCol w="3762375"/>
                <a:gridCol w="2543175"/>
              </a:tblGrid>
              <a:tr h="869156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7FAFC"/>
                          </a:solidFill>
                          <a:latin typeface="Arial"/>
                          <a:ea typeface="Arial"/>
                          <a:cs typeface="Arial"/>
                        </a:rPr>
                        <a:t>Риск</a:t>
                      </a:r>
                    </a:p>
                  </a:txBody>
                  <a:tcPr marL="114300" marR="114300" marT="76200" marB="76200"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7FAFC"/>
                          </a:solidFill>
                          <a:latin typeface="Arial"/>
                          <a:ea typeface="Arial"/>
                          <a:cs typeface="Arial"/>
                        </a:rPr>
                        <a:t>Без меры</a:t>
                      </a:r>
                    </a:p>
                  </a:txBody>
                  <a:tcPr marL="114300" marR="114300" marT="76200" marB="76200"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7FAFC"/>
                          </a:solidFill>
                          <a:latin typeface="Arial"/>
                          <a:ea typeface="Arial"/>
                          <a:cs typeface="Arial"/>
                        </a:rPr>
                        <a:t>Ответ оператора</a:t>
                      </a:r>
                    </a:p>
                  </a:txBody>
                  <a:tcPr marL="114300" marR="114300" marT="76200" marB="76200"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7FAFC"/>
                          </a:solidFill>
                          <a:latin typeface="Arial"/>
                          <a:ea typeface="Arial"/>
                          <a:cs typeface="Arial"/>
                        </a:rPr>
                        <a:t>Остаток</a:t>
                      </a:r>
                    </a:p>
                  </a:txBody>
                  <a:tcPr marL="114300" marR="114300" marT="76200" marB="76200" anchor="ctr">
                    <a:solidFill>
                      <a:srgbClr val="0D1B2A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4E7FFF"/>
                          </a:solidFill>
                          <a:latin typeface="Arial"/>
                          <a:ea typeface="Arial"/>
                          <a:cs typeface="Arial"/>
                        </a:rPr>
                        <a:t>R02</a:t>
                      </a:r>
                    </a:p>
                    <a:p>
                      <a:r>
                        <a:rPr sz="1275" b="1">
                          <a:solidFill>
                            <a:srgbClr val="4E7FFF"/>
                          </a:solidFill>
                          <a:latin typeface="Arial"/>
                          <a:ea typeface="Arial"/>
                          <a:cs typeface="Arial"/>
                        </a:rPr>
                        <a:t>ISRU +12 мес</a:t>
                      </a:r>
                    </a:p>
                  </a:txBody>
                  <a:tcPr marL="114300" marR="114300" marT="76200" marB="76200" anchor="ctr">
                    <a:solidFill>
                      <a:srgbClr val="ED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13.2 т дефицита</a:t>
                      </a:r>
                    </a:p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SL 0.9474</a:t>
                      </a:r>
                    </a:p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15 нарушений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Снять 63 т D</a:t>
                      </a:r>
                    </a:p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Добавить 66 т B</a:t>
                      </a:r>
                    </a:p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+529.9 млн PV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97A56"/>
                          </a:solidFill>
                          <a:latin typeface="Arial"/>
                          <a:ea typeface="Arial"/>
                          <a:cs typeface="Arial"/>
                        </a:rPr>
                        <a:t>0 т</a:t>
                      </a:r>
                    </a:p>
                    <a:p>
                      <a:r>
                        <a:rPr sz="1200" b="1">
                          <a:solidFill>
                            <a:srgbClr val="197A56"/>
                          </a:solidFill>
                          <a:latin typeface="Arial"/>
                          <a:ea typeface="Arial"/>
                          <a:cs typeface="Arial"/>
                        </a:rPr>
                        <a:t>0 нарушений</a:t>
                      </a:r>
                    </a:p>
                  </a:txBody>
                  <a:tcPr marL="114300" marR="114300" marT="76200" marB="76200" anchor="ctr">
                    <a:solidFill>
                      <a:srgbClr val="E9F9F2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4E7FFF"/>
                          </a:solidFill>
                          <a:latin typeface="Arial"/>
                          <a:ea typeface="Arial"/>
                          <a:cs typeface="Arial"/>
                        </a:rPr>
                        <a:t>R08</a:t>
                      </a:r>
                    </a:p>
                    <a:p>
                      <a:r>
                        <a:rPr sz="1275" b="1">
                          <a:solidFill>
                            <a:srgbClr val="4E7FFF"/>
                          </a:solidFill>
                          <a:latin typeface="Arial"/>
                          <a:ea typeface="Arial"/>
                          <a:cs typeface="Arial"/>
                        </a:rPr>
                        <a:t>A −20% мощности</a:t>
                      </a:r>
                    </a:p>
                  </a:txBody>
                  <a:tcPr marL="114300" marR="114300" marT="76200" marB="76200" anchor="ctr">
                    <a:solidFill>
                      <a:srgbClr val="ED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Срез 38 т</a:t>
                      </a:r>
                    </a:p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15 нарушений</a:t>
                      </a:r>
                    </a:p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дефицит 0 т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Снизить резерв A до 152</a:t>
                      </a:r>
                    </a:p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Добавить 38 т B</a:t>
                      </a:r>
                    </a:p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+310.2 млн PV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97A56"/>
                          </a:solidFill>
                          <a:latin typeface="Arial"/>
                          <a:ea typeface="Arial"/>
                          <a:cs typeface="Arial"/>
                        </a:rPr>
                        <a:t>0 т</a:t>
                      </a:r>
                    </a:p>
                    <a:p>
                      <a:r>
                        <a:rPr sz="1200" b="1">
                          <a:solidFill>
                            <a:srgbClr val="197A56"/>
                          </a:solidFill>
                          <a:latin typeface="Arial"/>
                          <a:ea typeface="Arial"/>
                          <a:cs typeface="Arial"/>
                        </a:rPr>
                        <a:t>0 нарушений</a:t>
                      </a:r>
                    </a:p>
                  </a:txBody>
                  <a:tcPr marL="114300" marR="114300" marT="76200" marB="76200" anchor="ctr">
                    <a:solidFill>
                      <a:srgbClr val="E9F9F2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A93B3B"/>
                          </a:solidFill>
                          <a:latin typeface="Arial"/>
                          <a:ea typeface="Arial"/>
                          <a:cs typeface="Arial"/>
                        </a:rPr>
                        <a:t>R10</a:t>
                      </a:r>
                    </a:p>
                    <a:p>
                      <a:r>
                        <a:rPr sz="1275" b="1">
                          <a:solidFill>
                            <a:srgbClr val="A93B3B"/>
                          </a:solidFill>
                          <a:latin typeface="Arial"/>
                          <a:ea typeface="Arial"/>
                          <a:cs typeface="Arial"/>
                        </a:rPr>
                        <a:t>Тариф A +20%</a:t>
                      </a:r>
                    </a:p>
                  </a:txBody>
                  <a:tcPr marL="114300" marR="114300" marT="76200" marB="76200" anchor="ctr"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+337.9 млн PV</a:t>
                      </a:r>
                    </a:p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физика без изменений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Риск принять</a:t>
                      </a:r>
                    </a:p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B дороже 7.44</a:t>
                      </a:r>
                    </a:p>
                    <a:p>
                      <a:r>
                        <a:rPr sz="1125">
                          <a:solidFill>
                            <a:srgbClr val="102033"/>
                          </a:solidFill>
                          <a:latin typeface="Arial"/>
                          <a:ea typeface="Arial"/>
                          <a:cs typeface="Arial"/>
                        </a:rPr>
                        <a:t>TOP ограничивает перенос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9A5A00"/>
                          </a:solidFill>
                          <a:latin typeface="Arial"/>
                          <a:ea typeface="Arial"/>
                          <a:cs typeface="Arial"/>
                        </a:rPr>
                        <a:t>+337.9 млн PV</a:t>
                      </a:r>
                    </a:p>
                    <a:p>
                      <a:r>
                        <a:rPr sz="1200" b="1">
                          <a:solidFill>
                            <a:srgbClr val="9A5A00"/>
                          </a:solidFill>
                          <a:latin typeface="Arial"/>
                          <a:ea typeface="Arial"/>
                          <a:cs typeface="Arial"/>
                        </a:rPr>
                        <a:t>у заказчика</a:t>
                      </a:r>
                    </a:p>
                  </a:txBody>
                  <a:tcPr marL="114300" marR="114300" marT="76200" marB="76200" anchor="ctr">
                    <a:solidFill>
                      <a:srgbClr val="FFF1DC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74B23-799D-404D-94B0-FA0E308B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863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Полный перезаказ устраняет нарушения. Простой довесок B оставляет конфликтующие заказы.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CA367A-D80D-4558-B0D0-090AB6F2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R07: CAPEX ISRU +15% сохраняет лимит 1 617.5 ≤ 1 800 млн благодаря headroom S10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C76E7-1213-4AC4-8DB1-6FDB083E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ED82A0-0ED4-4334-884B-0E6DDBA5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715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Источник: results/risk_register.csv · results/stress/P03_risks.csv</a:t>
            </a:r>
          </a:p>
        </p:txBody>
      </p:sp>
    </p:spTree>
    <p:extLst>
      <p:ext uri="{BB962C8B-B14F-4D97-AF65-F5344CB8AC3E}">
        <p14:creationId xmlns:p14="http://schemas.microsoft.com/office/powerpoint/2010/main" val="6124255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1AEBEE-E24A-4C82-B98F-CF0EA5EE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Адаптация распределяет стоимость, но защищает критический спрос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EEE952-1A2F-4C22-928C-EC9F5329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2D4F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A12743-A160-4A7A-A9DE-23425F9C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33625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83D"/>
          </a:solidFill>
          <a:ln xmlns:a="http://schemas.openxmlformats.org/drawingml/2006/main" w="28575">
            <a:solidFill>
              <a:srgbClr val="42D4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725C2-908D-4718-B936-EF4FE154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003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ОПЕРАТОР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619607-788A-4FFE-9DB1-3EC8B2C2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57550"/>
            <a:ext cx="152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2D4F4"/>
                </a:solidFill>
                <a:latin typeface="Arial"/>
                <a:ea typeface="Arial"/>
                <a:cs typeface="Arial"/>
              </a:rPr>
              <a:t>+1 537.1 млн PV</a:t>
            </a:r>
          </a:p>
          <a:p xmlns:a="http://schemas.openxmlformats.org/drawingml/2006/main">
            <a:pPr algn="ctr">
              <a:defRPr sz="1275" b="0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2D4F4"/>
                </a:solidFill>
                <a:latin typeface="Arial"/>
                <a:ea typeface="Arial"/>
                <a:cs typeface="Arial"/>
              </a:rPr>
              <a:t>за адаптацию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83BB4-DCD6-49ED-BE28-CF9E20E4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52550"/>
            <a:ext cx="3143250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13283D"/>
          </a:solidFill>
          <a:ln xmlns:a="http://schemas.openxmlformats.org/drawingml/2006/main" w="19050">
            <a:solidFill>
              <a:srgbClr val="4FD09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E1FEB-A713-4A5A-AF50-D4080D76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485900"/>
            <a:ext cx="2800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FD09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D09A"/>
                </a:solidFill>
                <a:latin typeface="Arial"/>
                <a:ea typeface="Arial"/>
                <a:cs typeface="Arial"/>
              </a:rPr>
              <a:t>Критические потребители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66919-0622-447D-A3C8-274E6F9A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28800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SL_critical = 1.000</a:t>
            </a:r>
          </a:p>
          <a:p xmlns:a="http://schemas.openxmlformats.org/drawingml/2006/main">
            <a:pPr algn="l">
              <a:defRPr sz="127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Приоритет выдачи топлива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09077A-F6B5-4AFA-9137-B487E79F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29100"/>
            <a:ext cx="3143250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13283D"/>
          </a:solidFill>
          <a:ln xmlns:a="http://schemas.openxmlformats.org/drawingml/2006/main" w="19050">
            <a:solidFill>
              <a:srgbClr val="FF6B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396D40-10A2-48D9-9C98-0DA3099C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62450"/>
            <a:ext cx="2800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6B6B"/>
                </a:solidFill>
                <a:latin typeface="Arial"/>
                <a:ea typeface="Arial"/>
                <a:cs typeface="Arial"/>
              </a:rPr>
              <a:t>Коммерческие потребители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7F42C1-CC57-49AF-944C-9F88DC4A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705350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Без адаптации принимают</a:t>
            </a:r>
          </a:p>
          <a:p xmlns:a="http://schemas.openxmlformats.org/drawingml/2006/main">
            <a:pPr algn="l">
              <a:defRPr sz="127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130.7 т дефицита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1480BB-439F-4BAF-AE87-6525451E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352550"/>
            <a:ext cx="3143250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13283D"/>
          </a:solidFill>
          <a:ln xmlns:a="http://schemas.openxmlformats.org/drawingml/2006/main" w="19050">
            <a:solidFill>
              <a:srgbClr val="FFB5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DF27D6-199E-4441-B71F-CBDE7C4D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485900"/>
            <a:ext cx="2800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B54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547"/>
                </a:solidFill>
                <a:latin typeface="Arial"/>
                <a:ea typeface="Arial"/>
                <a:cs typeface="Arial"/>
              </a:rPr>
              <a:t>Поставщики A–E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A4185F-318C-4FAB-B69A-612F2BBD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828800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A получает +471.2 млн</a:t>
            </a:r>
          </a:p>
          <a:p xmlns:a="http://schemas.openxmlformats.org/drawingml/2006/main">
            <a:pPr algn="l">
              <a:defRPr sz="127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при гео-тарифе +20%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6ACC56-4BEB-4E6D-AAA3-EA1312BD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29100"/>
            <a:ext cx="3143250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13283D"/>
          </a:solidFill>
          <a:ln xmlns:a="http://schemas.openxmlformats.org/drawingml/2006/main" w="19050">
            <a:solidFill>
              <a:srgbClr val="8E7C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FBE4D9-4D15-4E18-B2D1-ACCF650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362450"/>
            <a:ext cx="2800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E7C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E7CFF"/>
                </a:solidFill>
                <a:latin typeface="Arial"/>
                <a:ea typeface="Arial"/>
                <a:cs typeface="Arial"/>
              </a:rPr>
              <a:t>Финансирующая сторона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4CC12F-47D8-45F3-9F54-6DD2F6A0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705350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CAPEX 1 430 / 1 800</a:t>
            </a:r>
          </a:p>
          <a:p xmlns:a="http://schemas.openxmlformats.org/drawingml/2006/main">
            <a:pPr algn="l">
              <a:defRPr sz="127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headroom 370 млн</a:t>
            </a:r>
          </a:p>
        </p:txBody>
      </p:sp>
      <p:cxnSp>
        <p:nvCxnSpPr>
          <p:cNvPr id="45" name=""/>
          <p:cNvCxnSpPr>
            <a:stCxn xmlns:a="http://schemas.openxmlformats.org/drawingml/2006/main" id="6" idx="3"/>
            <a:endCxn xmlns:a="http://schemas.openxmlformats.org/drawingml/2006/main" id="3" idx="2"/>
          </p:cNvCxnSpPr>
          <p:nvPr/>
        </p:nvCxnSpPr>
        <p:spPr>
          <a:xfrm xmlns:a="http://schemas.openxmlformats.org/drawingml/2006/main">
            <a:off x="3762375" y="1900238"/>
            <a:ext cx="1333500" cy="14335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718A"/>
            </a:solidFill>
            <a:prstDash val="solid"/>
          </a:ln>
        </p:spPr>
      </p:cxnSp>
      <p:cxnSp>
        <p:nvCxnSpPr>
          <p:cNvPr id="46" name=""/>
          <p:cNvCxnSpPr>
            <a:stCxn xmlns:a="http://schemas.openxmlformats.org/drawingml/2006/main" id="9" idx="3"/>
            <a:endCxn xmlns:a="http://schemas.openxmlformats.org/drawingml/2006/main" id="3" idx="2"/>
          </p:cNvCxnSpPr>
          <p:nvPr/>
        </p:nvCxnSpPr>
        <p:spPr>
          <a:xfrm xmlns:a="http://schemas.openxmlformats.org/drawingml/2006/main" flipV="1">
            <a:off x="3762375" y="3333750"/>
            <a:ext cx="1333500" cy="14430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718A"/>
            </a:solidFill>
            <a:prstDash val="solid"/>
          </a:ln>
        </p:spPr>
      </p:cxnSp>
      <p:cxnSp>
        <p:nvCxnSpPr>
          <p:cNvPr id="47" name=""/>
          <p:cNvCxnSpPr>
            <a:stCxn xmlns:a="http://schemas.openxmlformats.org/drawingml/2006/main" id="12" idx="1"/>
            <a:endCxn xmlns:a="http://schemas.openxmlformats.org/drawingml/2006/main" id="3" idx="6"/>
          </p:cNvCxnSpPr>
          <p:nvPr/>
        </p:nvCxnSpPr>
        <p:spPr>
          <a:xfrm xmlns:a="http://schemas.openxmlformats.org/drawingml/2006/main" flipH="1">
            <a:off x="7096125" y="1900238"/>
            <a:ext cx="1333500" cy="14335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718A"/>
            </a:solidFill>
            <a:prstDash val="solid"/>
          </a:ln>
        </p:spPr>
      </p:cxnSp>
      <p:cxnSp>
        <p:nvCxnSpPr>
          <p:cNvPr id="48" name=""/>
          <p:cNvCxnSpPr>
            <a:stCxn xmlns:a="http://schemas.openxmlformats.org/drawingml/2006/main" id="15" idx="1"/>
            <a:endCxn xmlns:a="http://schemas.openxmlformats.org/drawingml/2006/main" id="3" idx="6"/>
          </p:cNvCxnSpPr>
          <p:nvPr/>
        </p:nvCxnSpPr>
        <p:spPr>
          <a:xfrm xmlns:a="http://schemas.openxmlformats.org/drawingml/2006/main" flipH="1" flipV="1">
            <a:off x="7096125" y="3333750"/>
            <a:ext cx="1333500" cy="14430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718A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FEC044-3692-4944-ACE4-335CACF5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791075"/>
            <a:ext cx="35242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3283D"/>
          </a:solidFill>
          <a:ln xmlns:a="http://schemas.openxmlformats.org/drawingml/2006/main" w="19050">
            <a:solidFill>
              <a:srgbClr val="4E7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469BAF-F884-4EF3-BAE1-62445FB4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9149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2D4F4"/>
                </a:solidFill>
                <a:latin typeface="Arial"/>
                <a:ea typeface="Arial"/>
                <a:cs typeface="Arial"/>
              </a:rPr>
              <a:t>Окно реакции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59046A-2FD7-46E0-BF06-AF6597C8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219700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4 месяца по каналу 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978D2F-29F5-49D9-A10F-8ACB1037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572125"/>
            <a:ext cx="300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Решение для события 2038-01 нужно принять до 2037-08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7E92ED-746B-4100-AD9E-5B30285F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6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B7BF76-DA50-49B6-A3FF-55C662A6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715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Источник: docs/note/05_stakeholders.md · results/geopolitics/P05_parties.csv</a:t>
            </a:r>
          </a:p>
        </p:txBody>
      </p:sp>
    </p:spTree>
    <p:extLst>
      <p:ext uri="{BB962C8B-B14F-4D97-AF65-F5344CB8AC3E}">
        <p14:creationId xmlns:p14="http://schemas.microsoft.com/office/powerpoint/2010/main" val="20881997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B791BF-2972-46E6-B70C-20CE789C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Результат проверяется на четырёх независимых уровнях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727E5-93F8-4B81-B2C3-0A20AFE1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E7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A1488-08FB-4F48-BC28-8FC87AF1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4E7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4E7FFF"/>
                </a:solidFill>
                <a:latin typeface="Arial"/>
                <a:ea typeface="Arial"/>
                <a:cs typeface="Arial"/>
              </a:rPr>
              <a:t>10/10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3AA94-2EFF-48BA-8B7B-5CBBE466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контрольных векторов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C6BC05-5301-4378-B3E4-526443AC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381125"/>
            <a:ext cx="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E27A76-EF04-43F7-9516-78DB5BBE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35255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8E7C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8E7CFF"/>
                </a:solidFill>
                <a:latin typeface="Arial"/>
                <a:ea typeface="Arial"/>
                <a:cs typeface="Arial"/>
              </a:rPr>
              <a:t>118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C0ED7-B8FC-4E92-A243-4BE6EC43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076450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автотестов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39C684-9AB7-468E-BFF0-6EF7E992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381125"/>
            <a:ext cx="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720E59-400D-4CC8-A259-11D94E95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5255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4FD09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4FD09A"/>
                </a:solidFill>
                <a:latin typeface="Arial"/>
                <a:ea typeface="Arial"/>
                <a:cs typeface="Arial"/>
              </a:rPr>
              <a:t>≤0.1003%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F56533-F519-424B-9B1F-4E2677A5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76450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ядро против ручного расчёта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4A1260-7B84-4EE2-B53B-7E34F98A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381125"/>
            <a:ext cx="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2559F5-94E2-493C-84CC-D57DB99F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35255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B5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B5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4155C5-A08C-4A13-AF0B-1B3DFB82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076450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файлов в каждом экспорте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394755-066F-42FE-A445-0C4669FC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67125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AD3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073AFB-61DC-4A40-A25E-000B9145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05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F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4856E3-6988-40FF-B8F0-BA66380D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290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Арифметика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060FE2-971B-4D8A-9E69-3CD8E6AC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9102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V01–V10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EEC84D-F04A-4420-95A8-427170D7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505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7C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864FC0-04BD-4D4A-8F45-857CE627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0290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Регрессия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1D3FCA-43D7-45C3-9986-6CC2F357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39102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pytest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433C3C-B554-4276-917A-D7BF8162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05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D09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95F81A-967F-49FD-91E5-B0B34DE5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290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Независимая модель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FFE65D-BD7E-4121-B959-C065B18F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39102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WP2 manual_calc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D68C23-EDC5-49EB-B033-5B0AF81A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05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20FDB4-021A-4164-B6CD-52B0719D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0290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Воспроизводимость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FB42A7-1E6D-4DDF-B605-7E263EAC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39102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экспорт и SHA-256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9C0CB5-FE14-4CE6-8BC9-446A2640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F9F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A95D7F-E409-45D3-AE96-CB951BAF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57825"/>
            <a:ext cx="10496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6B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B4B"/>
                </a:solidFill>
                <a:latin typeface="Arial"/>
                <a:ea typeface="Arial"/>
                <a:cs typeface="Arial"/>
              </a:rPr>
              <a:t>Source-X добавляется через данные без изменения формул. Горизонт 2041+ требует изменить одну константу модели и явно задать новые лимиты.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BB18F5-2CD2-4141-96D1-3194C410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3D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437A78-9D2E-411B-A1B5-0BE9B207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715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57A"/>
                </a:solidFill>
                <a:latin typeface="Arial"/>
                <a:ea typeface="Arial"/>
                <a:cs typeface="Arial"/>
              </a:rPr>
              <a:t>Источник: tests/ · results/exports/reconciliation.csv · results/exports/FINAL_BASE/meta.json</a:t>
            </a:r>
          </a:p>
        </p:txBody>
      </p:sp>
    </p:spTree>
    <p:extLst>
      <p:ext uri="{BB962C8B-B14F-4D97-AF65-F5344CB8AC3E}">
        <p14:creationId xmlns:p14="http://schemas.microsoft.com/office/powerpoint/2010/main" val="18906755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D72618-DA70-46CE-80A8-A0F2C75B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S10 обеспечивает спрос и оставляет управляемые точки решения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F161A1-BC72-483E-A5F6-B8670CB6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2D4F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7785F9-A0B1-4352-9AAC-66FDD44E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85875"/>
            <a:ext cx="314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42D4F4"/>
                </a:solidFill>
                <a:latin typeface="Arial"/>
                <a:ea typeface="Arial"/>
                <a:cs typeface="Arial"/>
              </a:rPr>
              <a:t>S10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A7FFA5-C145-4325-8F88-3FE41AB0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193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ISRU base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B018D6-735A-4779-8FBC-6DBF8D65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432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54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547"/>
                </a:solidFill>
                <a:latin typeface="Arial"/>
                <a:ea typeface="Arial"/>
                <a:cs typeface="Arial"/>
              </a:rPr>
              <a:t>BASE и STRESS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6EED6E-4F28-4B7F-A976-80479C22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62350"/>
            <a:ext cx="2476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SL 1.000</a:t>
            </a:r>
          </a:p>
          <a:p xmlns:a="http://schemas.openxmlformats.org/drawingml/2006/main">
            <a:pPr algn="l">
              <a:defRPr sz="19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дефицит 0 т</a:t>
            </a:r>
          </a:p>
          <a:p xmlns:a="http://schemas.openxmlformats.org/drawingml/2006/main">
            <a:pPr algn="l">
              <a:defRPr sz="19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нарушений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499DD8-635E-43F6-BA85-CD057A93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219200"/>
            <a:ext cx="0" cy="419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51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57691C-75FE-4F49-A662-06E268A2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20015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E7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E7FFF"/>
                </a:solidFill>
                <a:latin typeface="Arial"/>
                <a:ea typeface="Arial"/>
                <a:cs typeface="Arial"/>
              </a:rPr>
              <a:t>Опцион 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FD464-6E45-47E6-8898-6F31C813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81100"/>
            <a:ext cx="4810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Не покупать в FINAL. Страховая ценность появляется при P недобора ISRU &gt; 44%.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BA7B5C-33BA-4983-AA75-75E6A7B5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76450"/>
            <a:ext cx="690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92FEEB-139F-4B93-8AC5-98640495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2410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2D4F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2D4F4"/>
                </a:solidFill>
                <a:latin typeface="Arial"/>
                <a:ea typeface="Arial"/>
                <a:cs typeface="Arial"/>
              </a:rPr>
              <a:t>ZBO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B5E704-2115-4D67-A0F4-4A1ACE23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05050"/>
            <a:ext cx="4810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Обязателен: без него потери 4.5% превышают стресс-лимит 2%.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E68E2D-125C-460F-8DF9-902C8551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00400"/>
            <a:ext cx="690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4C2B13-CF82-40C7-9959-15B09779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4805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B5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547"/>
                </a:solidFill>
                <a:latin typeface="Arial"/>
                <a:ea typeface="Arial"/>
                <a:cs typeface="Arial"/>
              </a:rPr>
              <a:t>Лунный ISRU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E698C0-754D-4EA8-BB5D-EDAED132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4810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Рационален от 217 т отбора. BASE даёт 223.7 т.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C14B3B-7FC7-49B9-8DE4-AEB92E9E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24350"/>
            <a:ext cx="690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15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3BE18A-A231-41EA-B889-8DC448DA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7200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FD09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FD09A"/>
                </a:solidFill>
                <a:latin typeface="Arial"/>
                <a:ea typeface="Arial"/>
                <a:cs typeface="Arial"/>
              </a:rPr>
              <a:t>Резерв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D98F36-D2AF-4F16-AF3C-E8041BFF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52950"/>
            <a:ext cx="4810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Физический запас доказуемее канала E: 9.21 т за 42 дня недостаточно.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5B8188-F1DE-4D82-8504-B09D191A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753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FB0C2"/>
                </a:solidFill>
                <a:latin typeface="Arial"/>
                <a:ea typeface="Arial"/>
                <a:cs typeface="Arial"/>
              </a:rPr>
              <a:t>Границы прототипа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26349F-2E66-45C8-97C0-9FB755D5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150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агрегированный ресурс · месячный шаг · учебные цены · сценарный подход без ложной вероятностной точности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F2894F-C425-49B0-A878-CFC84CB5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8998A9-6D7D-4DCB-9CA9-89DE421D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715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2"/>
                </a:solidFill>
                <a:latin typeface="Arial"/>
                <a:ea typeface="Arial"/>
                <a:cs typeface="Arial"/>
              </a:rPr>
              <a:t>Источник: docs/note/09_strategy_comparison.md · docs/note/07_limitations.md</a:t>
            </a:r>
          </a:p>
        </p:txBody>
      </p:sp>
    </p:spTree>
    <p:extLst>
      <p:ext uri="{BB962C8B-B14F-4D97-AF65-F5344CB8AC3E}">
        <p14:creationId xmlns:p14="http://schemas.microsoft.com/office/powerpoint/2010/main" val="3467149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2026-09-20T01:45:54.7680000Z</dcterms:created>
  <dcterms:modified xsi:type="dcterms:W3CDTF">2026-09-20T01:45:54.7680000Z</dcterms:modified>
</coreProperties>
</file>