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657bcb67e4fd0" /><Relationship Type="http://schemas.openxmlformats.org/officeDocument/2006/relationships/extended-properties" Target="/docProps/app.xml" Id="R3f2a5a495f614d48" /><Relationship Type="http://schemas.openxmlformats.org/officeDocument/2006/relationships/officeDocument" Target="/ppt/presentation.xml" Id="Rc0acd4fcdf80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27a7b8d5347a0"/>
  </p:sldMasterIdLst>
  <p:notesMasterIdLst>
    <p:notesMasterId xmlns:r="http://schemas.openxmlformats.org/officeDocument/2006/relationships" r:id="R6a03cc6f150d4f2f"/>
  </p:notesMasterIdLst>
  <p:sldIdLst>
    <p:sldId xmlns:r="http://schemas.openxmlformats.org/officeDocument/2006/relationships" id="256" r:id="Rb26657fc905b4630"/>
    <p:sldId xmlns:r="http://schemas.openxmlformats.org/officeDocument/2006/relationships" id="257" r:id="Rdd4ae762f40d4d48"/>
    <p:sldId xmlns:r="http://schemas.openxmlformats.org/officeDocument/2006/relationships" id="258" r:id="Re1668a5fd4c84d19"/>
    <p:sldId xmlns:r="http://schemas.openxmlformats.org/officeDocument/2006/relationships" id="259" r:id="R69eb7b4ed123437a"/>
    <p:sldId xmlns:r="http://schemas.openxmlformats.org/officeDocument/2006/relationships" id="260" r:id="Rc062d17a58324b11"/>
    <p:sldId xmlns:r="http://schemas.openxmlformats.org/officeDocument/2006/relationships" id="261" r:id="Ra74e46893b9d4656"/>
    <p:sldId xmlns:r="http://schemas.openxmlformats.org/officeDocument/2006/relationships" id="262" r:id="Rba644e5405c2436c"/>
    <p:sldId xmlns:r="http://schemas.openxmlformats.org/officeDocument/2006/relationships" id="263" r:id="R63d5b2f485454ab2"/>
    <p:sldId xmlns:r="http://schemas.openxmlformats.org/officeDocument/2006/relationships" id="264" r:id="R6a6bb4f2197c4dd9"/>
    <p:sldId xmlns:r="http://schemas.openxmlformats.org/officeDocument/2006/relationships" id="265" r:id="Re8879125b3f94a26"/>
    <p:sldId xmlns:r="http://schemas.openxmlformats.org/officeDocument/2006/relationships" id="266" r:id="R0f946a5f25234165"/>
    <p:sldId xmlns:r="http://schemas.openxmlformats.org/officeDocument/2006/relationships" id="267" r:id="R6c4d521d04564c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872aca5904f16" /><Relationship Type="http://schemas.openxmlformats.org/officeDocument/2006/relationships/slideMaster" Target="/ppt/slideMasters/slideMaster1.xml" Id="R6f027a7b8d5347a0" /><Relationship Type="http://schemas.openxmlformats.org/officeDocument/2006/relationships/notesMaster" Target="/ppt/notesMasters/notesMaster1.xml" Id="R6a03cc6f150d4f2f" /><Relationship Type="http://schemas.openxmlformats.org/officeDocument/2006/relationships/presProps" Target="/ppt/presProps.xml" Id="R505602131c1949b8" /><Relationship Type="http://schemas.openxmlformats.org/officeDocument/2006/relationships/tableStyles" Target="/ppt/tableStyles.xml" Id="R55248c73f6e64cad" /><Relationship Type="http://schemas.openxmlformats.org/officeDocument/2006/relationships/slide" Target="/ppt/slides/slide1.xml" Id="Rb26657fc905b4630" /><Relationship Type="http://schemas.openxmlformats.org/officeDocument/2006/relationships/slide" Target="/ppt/slides/slide2.xml" Id="Rdd4ae762f40d4d48" /><Relationship Type="http://schemas.openxmlformats.org/officeDocument/2006/relationships/slide" Target="/ppt/slides/slide3.xml" Id="Re1668a5fd4c84d19" /><Relationship Type="http://schemas.openxmlformats.org/officeDocument/2006/relationships/slide" Target="/ppt/slides/slide4.xml" Id="R69eb7b4ed123437a" /><Relationship Type="http://schemas.openxmlformats.org/officeDocument/2006/relationships/slide" Target="/ppt/slides/slide5.xml" Id="Rc062d17a58324b11" /><Relationship Type="http://schemas.openxmlformats.org/officeDocument/2006/relationships/slide" Target="/ppt/slides/slide6.xml" Id="Ra74e46893b9d4656" /><Relationship Type="http://schemas.openxmlformats.org/officeDocument/2006/relationships/slide" Target="/ppt/slides/slide7.xml" Id="Rba644e5405c2436c" /><Relationship Type="http://schemas.openxmlformats.org/officeDocument/2006/relationships/slide" Target="/ppt/slides/slide8.xml" Id="R63d5b2f485454ab2" /><Relationship Type="http://schemas.openxmlformats.org/officeDocument/2006/relationships/slide" Target="/ppt/slides/slide9.xml" Id="R6a6bb4f2197c4dd9" /><Relationship Type="http://schemas.openxmlformats.org/officeDocument/2006/relationships/slide" Target="/ppt/slides/slide10.xml" Id="Re8879125b3f94a26" /><Relationship Type="http://schemas.openxmlformats.org/officeDocument/2006/relationships/slide" Target="/ppt/slides/slide11.xml" Id="R0f946a5f25234165" /><Relationship Type="http://schemas.openxmlformats.org/officeDocument/2006/relationships/slide" Target="/ppt/slides/slide12.xml" Id="R6c4d521d0456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17951c903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2230a3d34467f" /><Relationship Type="http://schemas.openxmlformats.org/officeDocument/2006/relationships/notesMaster" Target="/ppt/notesMasters/notesMaster1.xml" Id="Rc33708c29aae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ec108a88840b3" /><Relationship Type="http://schemas.openxmlformats.org/officeDocument/2006/relationships/notesMaster" Target="/ppt/notesMasters/notesMaster1.xml" Id="R3b4e963666ee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bbf2118129495e" /><Relationship Type="http://schemas.openxmlformats.org/officeDocument/2006/relationships/notesMaster" Target="/ppt/notesMasters/notesMaster1.xml" Id="Ra3a7762597e9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108cf9d05d4329" /><Relationship Type="http://schemas.openxmlformats.org/officeDocument/2006/relationships/notesMaster" Target="/ppt/notesMasters/notesMaster1.xml" Id="Rffa6b5ab29f4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6fe49a39b48d1" /><Relationship Type="http://schemas.openxmlformats.org/officeDocument/2006/relationships/notesMaster" Target="/ppt/notesMasters/notesMaster1.xml" Id="R340c4fc5b3c149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128919aad428b" /><Relationship Type="http://schemas.openxmlformats.org/officeDocument/2006/relationships/notesMaster" Target="/ppt/notesMasters/notesMaster1.xml" Id="R2cf3d75f1686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1fcf586de4719" /><Relationship Type="http://schemas.openxmlformats.org/officeDocument/2006/relationships/notesMaster" Target="/ppt/notesMasters/notesMaster1.xml" Id="Re4507e066255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2a33828414fa0" /><Relationship Type="http://schemas.openxmlformats.org/officeDocument/2006/relationships/notesMaster" Target="/ppt/notesMasters/notesMaster1.xml" Id="R01fed391f4f3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fb16b710b4ccc" /><Relationship Type="http://schemas.openxmlformats.org/officeDocument/2006/relationships/notesMaster" Target="/ppt/notesMasters/notesMaster1.xml" Id="R9c13d4696ebf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896d5760bc4cc6" /><Relationship Type="http://schemas.openxmlformats.org/officeDocument/2006/relationships/notesMaster" Target="/ppt/notesMasters/notesMaster1.xml" Id="R426d9e909242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b5004abd2419d" /><Relationship Type="http://schemas.openxmlformats.org/officeDocument/2006/relationships/notesMaster" Target="/ppt/notesMasters/notesMaster1.xml" Id="R8b37460468fa42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f5328e9d54583" /><Relationship Type="http://schemas.openxmlformats.org/officeDocument/2006/relationships/notesMaster" Target="/ppt/notesMasters/notesMaster1.xml" Id="R70a1733e474b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защиту прямым результатом. S10 обеспечивает весь спрос в BASE и обязательном стрессе. PV расходов составляет 9 961.31 и 11 498.45 млн у.е. соответственно. В обоих сценариях минимальный уровень сервиса равен 1.000, дефицит и hard-нарушения отсутствуют.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results/exports/top5_detailed.csv;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Спрос BASE растёт с 100 до 390 т в год. Обязательный стресс поднимает общий спрос 2040 года до 448.5 т. Контрактные и физические ограничения нельзя компенсировать одним увеличением бюджета: у каналов есть сроки, мощности, take-or-pay и ограничения хранилища.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data/demand.csv; data/constraints.csv; configs/mandatory_stress.yaml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 запускает Streamlit, открывает FINAL BASE, меняет решения и получает новый расчёт. Интерфейс показывает правило, период, факт, лимит и русскую причину каждого нарушения. План и отдельный реестр договоров сохраняются рядом. CSV и XLSX формируются из того же RunResult.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app/main.py; docs/ИНСТРУКЦИЯ.md; tests/test_ui_wave2.py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CASE_INPUT и план со сценарием поступают в единую точку run_plan. Ядро считает поставки, баланс, сервис и затраты. Затем constraint_checks возвращает полный passed-list и нарушения. Аналитические модули строят риски и сравнения из того же RunResult, а UI и экспорт показывают те же числа. Сценарий применяется к копии входных данных, поэтому исходный BASE не мутируется.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src/engine/; ai_workstreams/00_contracts/core_api.md; docs/note/01_architecture.md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Скрининг охватывает 25 стратегий в двух сценариях. В топ-5 вошли разные семейства. S25 на 13.31 млн дешевле в BASE, но в обязательном стрессе проигрывает S10 на 850.28 млн. S10 получает 0.970 по baseline MCDA и остаётся лидером в наборах ECONOMY, RESILIENCE и FLEXIBILITY.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results/exports/screening_25.csv; results/exports/top5_detailed.csv; results/exports/mcda.csv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опирается на A как базовый канал, B как быстрый инструмент адаптации, ISRU D с 2038 года и ZBO. G3 проверяет прогноз суммарного отбора D за 2038–2040 годы до финансирования, а G4 при слабом фактическом выходе D запускает exercise C для мощности 2040+. CAPEX 1 430 млн оставляет 370 млн headroom. BASE-отбор ISRU 223.7 т превышает порог 217 т; в STRESS 178.9 т ниже порога, поэтому окупаемость выходит за горизонт 2040.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results/plans/FINAL_BASE.json; docs/note/12_roadmap_budget.md; docs/note/09_strategy_comparison.md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Финансовая модель разделяет закупки, резервирование, CAPEX, хранение и фиксированный OPEX. PV BASE равен 9 961.31 млн у.е., стоимость обслуживания одной тонны 8.929 млн у.е. Инвестиции приходятся на 2036 год. Известная неэффективность плана — take-or-pay переплата 824.6 млн в 2040 году.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results/exports/FINAL_BASE/financial_breakdown.csv; results/exports/top5_detailed.csv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Стратегическая архитектура остаётся прежней: A, B, ISRU и ZBO. Меняются строки заказов и целевой запас. Полная дельта обязательного стресса к BASE составляет 1 537.14 млн PV и включает рост спроса, ценовой шок и адаптацию плана. Сервис остаётся 1.000, нарушений нет. Тот же стресс на фиксированном BASE-плане даёт дефицит 130.69 т, минимальный SL_total 0.8486 и пять нарушений.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results/scenario_comparison.csv; results/stress/P01_summary.csv; results/plans/FINAL_BASE.json; results/plans/FINAL_STRESS.json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и R08 требуют именно перезаказа: снять недоступные или завышенные объёмы, затем заменить их каналом B. Эти меры возвращают дефицит и нарушения к нулю. Геополитический тариф R10 повышает PV на 337.92 млн; B дороже новой цены A, а TOP ограничивает экономию, поэтому риск рационально принять.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results/risk_register.csv; results/stress/P03_risks.csv; results/geopolitics/P05_summary.json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Критический спрос защищён приоритетом аллокации. Полная PV-дельта BASE→STRESS равна 1 537.14 млн и включает рост спроса, повышение цен и адаптацию заказов. Без адаптации дефицит прежде всего ложится на коммерческих потребителей. Провайдер A получает дополнительную выручку при геополитическом тарифе. Физический предел реакции задаёт четырёхмесячный lead time канала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docs/note/05_stakeholders.md; results/geopolitics/P05_parties.csv;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векторы проверяют арифметику, 118 тестов контролируют регрессию, независимая реализация WP2 расходится с ядром максимум на 0.1003% при допуске 0.5%. Экспорт содержит семь согласованных файлов. Source-X подключается через данные; расширение горизонта требует явного изменения параметра модели и новых лимитов.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tests/; results/exports/reconciliation.csv; results/exports/FINAL_BASE/meta.json; ai_workstreams/WP6_presentation_repo/REPORT_wave1.md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ответ: опцион C в план не включён; его страховая ценность появляется только при P(стресс-недобор ISRU) выше 44%, а вероятность проект не оценивает. ZBO обязателен. BASE-отбор ISRU 223.7 т выше порога 217 т; STRESS-отбор 178.9 т ниже порога, поэтому окупаемость в стрессе выходит за 2040. Физический запас дешевле и доказуемее канала E. S10 выполним в BASE и обязательном стрессе, но прототип использует агрегированный ресурс, месячный шаг и учебные цены.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docs/note/09_strategy_comparison.md; docs/note/07_limitations.md;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9650f1ab9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c9f0012d54522" /><Relationship Type="http://schemas.openxmlformats.org/officeDocument/2006/relationships/slideLayout" Target="/ppt/slideLayouts/slideLayout1.xml" Id="R3fc28e729d42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28e729d42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96b831eb849c6" /><Relationship Type="http://schemas.openxmlformats.org/officeDocument/2006/relationships/image" Target="/ppt/media/image.png" Id="Re0da71073b664609" /><Relationship Type="http://schemas.openxmlformats.org/officeDocument/2006/relationships/notesSlide" Target="/ppt/notesSlides/notesSlide1.xml" Id="R305826e30d85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2a5a56fa84aef" /><Relationship Type="http://schemas.openxmlformats.org/officeDocument/2006/relationships/chart" Target="/ppt/slides/charts/chart1.xml" Id="R9f1e5f8306364467" /><Relationship Type="http://schemas.openxmlformats.org/officeDocument/2006/relationships/notesSlide" Target="/ppt/notesSlides/notesSlide2.xml" Id="Rbbedff356312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6f7dd9a9c4da1" /><Relationship Type="http://schemas.openxmlformats.org/officeDocument/2006/relationships/image" Target="/ppt/media/image2.png" Id="Ra37b8c44bad74ffb" /><Relationship Type="http://schemas.openxmlformats.org/officeDocument/2006/relationships/notesSlide" Target="/ppt/notesSlides/notesSlide3.xml" Id="Rb8cb3db2a83b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3f7b68a7849d1" /><Relationship Type="http://schemas.openxmlformats.org/officeDocument/2006/relationships/notesSlide" Target="/ppt/notesSlides/notesSlide4.xml" Id="Rcbe62d37d2e44c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022d68574d84" /><Relationship Type="http://schemas.openxmlformats.org/officeDocument/2006/relationships/chart" Target="/ppt/slides/charts/chart2.xml" Id="R4ccb85e560fc497a" /><Relationship Type="http://schemas.openxmlformats.org/officeDocument/2006/relationships/notesSlide" Target="/ppt/notesSlides/notesSlide5.xml" Id="Ra7023795aad644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d4df358fd4b94" /><Relationship Type="http://schemas.openxmlformats.org/officeDocument/2006/relationships/notesSlide" Target="/ppt/notesSlides/notesSlide6.xml" Id="Rd4a946a6883c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10b5f2064881" /><Relationship Type="http://schemas.openxmlformats.org/officeDocument/2006/relationships/chart" Target="/ppt/slides/charts/chart3.xml" Id="R860b86ef0f6f4c37" /><Relationship Type="http://schemas.openxmlformats.org/officeDocument/2006/relationships/notesSlide" Target="/ppt/notesSlides/notesSlide7.xml" Id="Rb2039995754b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de35a51f649ac" /><Relationship Type="http://schemas.openxmlformats.org/officeDocument/2006/relationships/chart" Target="/ppt/slides/charts/chart4.xml" Id="Rc38a056eae7347e7" /><Relationship Type="http://schemas.openxmlformats.org/officeDocument/2006/relationships/notesSlide" Target="/ppt/notesSlides/notesSlide8.xml" Id="R890d74384f8046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c3f7e1c3042fc" /><Relationship Type="http://schemas.openxmlformats.org/officeDocument/2006/relationships/notesSlide" Target="/ppt/notesSlides/notesSlide9.xml" Id="Rc6325cce2c8643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5a451aa1944ad" /><Relationship Type="http://schemas.openxmlformats.org/officeDocument/2006/relationships/notesSlide" Target="/ppt/notesSlides/notesSlide10.xml" Id="R180c335a5b5242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9a2174d304aca" /><Relationship Type="http://schemas.openxmlformats.org/officeDocument/2006/relationships/notesSlide" Target="/ppt/notesSlides/notesSlide11.xml" Id="R63543e9edf08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bf69fce3942b2" /><Relationship Type="http://schemas.openxmlformats.org/officeDocument/2006/relationships/notesSlide" Target="/ppt/notesSlides/notesSlide12.xml" Id="Re1e058c2786f47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BASE, общий спрос</c:v>
          </c:tx>
          <c:spPr>
            <a:ln xmlns:a="http://schemas.openxmlformats.org/drawingml/2006/main" w="38100">
              <a:solidFill>
                <a:srgbClr val="4E7F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E7FFF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250</c:v>
                </c:pt>
                <c:pt idx="4">
                  <c:v>320</c:v>
                </c:pt>
                <c:pt idx="5">
                  <c:v>390</c:v>
                </c:pt>
              </c:numCache>
            </c:numRef>
          </c:val>
        </c:ser>
        <c:ser>
          <c:idx val="1"/>
          <c:order val="1"/>
          <c:tx>
            <c:v>BASE, критический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B547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80</c:v>
                </c:pt>
                <c:pt idx="1">
                  <c:v>105</c:v>
                </c:pt>
                <c:pt idx="2">
                  <c:v>135</c:v>
                </c:pt>
                <c:pt idx="3">
                  <c:v>170</c:v>
                </c:pt>
                <c:pt idx="4">
                  <c:v>210</c:v>
                </c:pt>
                <c:pt idx="5">
                  <c:v>250</c:v>
                </c:pt>
              </c:numCache>
            </c:numRef>
          </c:val>
        </c:ser>
        <c:ser>
          <c:idx val="2"/>
          <c:order val="2"/>
          <c:tx>
            <c:v>MANDATORY_STRESS, общий</c:v>
          </c:tx>
          <c:spPr>
            <a:ln xmlns:a="http://schemas.openxmlformats.org/drawingml/2006/main" w="38100">
              <a:solidFill>
                <a:srgbClr val="FF6B6B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6B6B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287.5</c:v>
                </c:pt>
                <c:pt idx="4">
                  <c:v>368</c:v>
                </c:pt>
                <c:pt idx="5">
                  <c:v>448.5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т/год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PV BASE</c:v>
          </c:tx>
          <c:spPr>
            <a:solidFill xmlns:a="http://schemas.openxmlformats.org/drawingml/2006/main">
              <a:srgbClr val="4E7FFF"/>
            </a:solidFill>
          </c:spPr>
          <c:cat>
            <c:strRef>
              <c:f>'Chart Data'!$A$2:$A$6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9961.31</c:v>
                </c:pt>
                <c:pt idx="1">
                  <c:v>9948.01</c:v>
                </c:pt>
                <c:pt idx="2">
                  <c:v>11807.46</c:v>
                </c:pt>
                <c:pt idx="3">
                  <c:v>11974.84</c:v>
                </c:pt>
                <c:pt idx="4">
                  <c:v>12097.98</c:v>
                </c:pt>
              </c:numCache>
            </c:numRef>
          </c:val>
        </c:ser>
        <c:ser>
          <c:idx val="1"/>
          <c:order val="1"/>
          <c:tx>
            <c:v>PV STRESS</c:v>
          </c:tx>
          <c:spPr>
            <a:solidFill xmlns:a="http://schemas.openxmlformats.org/drawingml/2006/main">
              <a:srgbClr val="FFB547"/>
            </a:solidFill>
          </c:spPr>
          <c:cat>
            <c:strRef>
              <c:f>'Chart Data'!$C$2:$C$6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11498.45</c:v>
                </c:pt>
                <c:pt idx="1">
                  <c:v>12348.74</c:v>
                </c:pt>
                <c:pt idx="2">
                  <c:v>13155.34</c:v>
                </c:pt>
                <c:pt idx="3">
                  <c:v>13168.41</c:v>
                </c:pt>
                <c:pt idx="4">
                  <c:v>13382.3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Закупки</c:v>
          </c:tx>
          <c:spPr>
            <a:solidFill xmlns:a="http://schemas.openxmlformats.org/drawingml/2006/main">
              <a:srgbClr val="4E7FFF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1909.56</c:v>
                </c:pt>
                <c:pt idx="1">
                  <c:v>1280.28</c:v>
                </c:pt>
                <c:pt idx="2">
                  <c:v>1304.35</c:v>
                </c:pt>
                <c:pt idx="3">
                  <c:v>1640.52</c:v>
                </c:pt>
                <c:pt idx="4">
                  <c:v>2125.98</c:v>
                </c:pt>
                <c:pt idx="5">
                  <c:v>1714.11</c:v>
                </c:pt>
              </c:numCache>
            </c:numRef>
          </c:val>
        </c:ser>
        <c:ser>
          <c:idx val="1"/>
          <c:order val="1"/>
          <c:tx>
            <c:v>Резервирование</c:v>
          </c:tx>
          <c:spPr>
            <a:solidFill xmlns:a="http://schemas.openxmlformats.org/drawingml/2006/main">
              <a:srgbClr val="8E7CFF"/>
            </a:solidFill>
          </c:spP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61.5</c:v>
                </c:pt>
                <c:pt idx="1">
                  <c:v>79.5</c:v>
                </c:pt>
                <c:pt idx="2">
                  <c:v>102</c:v>
                </c:pt>
                <c:pt idx="3">
                  <c:v>102</c:v>
                </c:pt>
                <c:pt idx="4">
                  <c:v>102</c:v>
                </c:pt>
                <c:pt idx="5">
                  <c:v>102</c:v>
                </c:pt>
              </c:numCache>
            </c:numRef>
          </c:val>
        </c:ser>
        <c:ser>
          <c:idx val="2"/>
          <c:order val="2"/>
          <c:tx>
            <c:v>CAPEX</c:v>
          </c:tx>
          <c:spPr>
            <a:solidFill xmlns:a="http://schemas.openxmlformats.org/drawingml/2006/main">
              <a:srgbClr val="FFB547"/>
            </a:solidFill>
          </c:spP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#,##0</c:formatCode>
                <c:ptCount val="6"/>
                <c:pt idx="0">
                  <c:v>0</c:v>
                </c:pt>
                <c:pt idx="1">
                  <c:v>1430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v>Хранение и OPEX</c:v>
          </c:tx>
          <c:spPr>
            <a:solidFill xmlns:a="http://schemas.openxmlformats.org/drawingml/2006/main">
              <a:srgbClr val="4FD09A"/>
            </a:solidFill>
          </c:spPr>
          <c:cat>
            <c:numRef>
              <c:f>'Chart Data'!$G$2:$G$7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Data'!$H$2:$H$7</c:f>
              <c:numCache>
                <c:formatCode>#,##0</c:formatCode>
                <c:ptCount val="6"/>
                <c:pt idx="0">
                  <c:v>24.45</c:v>
                </c:pt>
                <c:pt idx="1">
                  <c:v>29</c:v>
                </c:pt>
                <c:pt idx="2">
                  <c:v>40.7</c:v>
                </c:pt>
                <c:pt idx="3">
                  <c:v>117.06</c:v>
                </c:pt>
                <c:pt idx="4">
                  <c:v>123.22</c:v>
                </c:pt>
                <c:pt idx="5">
                  <c:v>123.48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млн у.е.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Дефицит, т</c:v>
          </c:tx>
          <c:spPr>
            <a:solidFill xmlns:a="http://schemas.openxmlformats.org/drawingml/2006/main">
              <a:srgbClr val="FF6B6B"/>
            </a:solidFill>
          </c:spPr>
          <c:cat>
            <c:strRef>
              <c:f>'Chart Data'!$A$2:$A$4</c:f>
              <c:strCache>
                <c:ptCount val="3"/>
                <c:pt idx="0">
                  <c:v>BASE, адаптирован</c:v>
                </c:pt>
                <c:pt idx="1">
                  <c:v>STRESS, адаптирован</c:v>
                </c:pt>
                <c:pt idx="2">
                  <c:v>STRESS, фиксированный BASE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130.69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7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157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5718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11D"/>
        </a:solidFill>
      </c:spPr>
    </c:plotArea>
    <c:plotVisOnly val="1"/>
  </c:chart>
  <c:spPr>
    <a:solidFill xmlns:a="http://schemas.openxmlformats.org/drawingml/2006/main">
      <a:srgbClr val="08111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a71073b6646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1A66-C086-4A9B-A79F-CC9D7F9B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DF66A-6341-4387-938B-147606C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ECC89-6801-4506-AE97-E498847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Топливный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космоконтур 2035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631A8-7E9C-48D3-864D-969270F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Система поддержки решений для снабжения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орбитального топливного узла в 2035–2040 гг.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AD3F-97C1-4059-95AA-55221CE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Финальная стратегия S10 · ISRU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1ACF-696D-4155-A73F-F86AFC8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145E-2868-45DD-998B-999242C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 BASE, млн у.е.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83EC-8EE0-43A5-A457-D0B9718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9B44-2962-4383-9569-5B48BE3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959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минимальный SL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86B7-FEC9-48D0-BAFD-074058A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D4515-13EF-46F7-8573-7AFEB1F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59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hard-нарушений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20A5F-8E5C-499E-A8B8-22F2ADF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11810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673AB-E0D0-4944-9565-218828E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Рост спроса встречается с жёсткими физическими ограничениями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6A05-E2A0-4824-A472-FD0E9EB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1e5f830636446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1E10-1B13-414A-A2BA-0ABA1CC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+290%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78CF0-83F4-4E80-AFD7-8F46B36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0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рост BASE: 100 → 390 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CE35-A8A1-4A30-9A1D-B0FC347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33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Контур должен одновременно соблюдать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E8B9-342C-4717-BBAA-D09A59B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429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SL_total ≥ 97%, SL_critical ≥ 99%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Физический резерв на 45 дней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CAPEX ≤ 1 800 млн к 2037 году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Take-or-pay A: 70% резерва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Lead time каналов: 4–24 месяца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Потери в стрессе ≤ 2% с 2038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2DB3-2414-477D-A150-7877900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Стресс с 2038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E7844-9966-494C-8966-EC2494A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спрос ×1.15 · цены A/B ×1.25 · ISRU 55%/75%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B3AC-7DD4-44AB-A548-FD206BE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BE81-BE24-41E3-BE2F-DE24071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data/demand.csv · data/constraints.csv · configs/mandatory_stress.yaml</a:t>
            </a:r>
          </a:p>
        </p:txBody>
      </p:sp>
    </p:spTree>
    <p:extLst>
      <p:ext uri="{BB962C8B-B14F-4D97-AF65-F5344CB8AC3E}">
        <p14:creationId xmlns:p14="http://schemas.microsoft.com/office/powerpoint/2010/main" val="93720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C7B71-43EB-41BC-B347-9AB8271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 проходит полный сценарий без разработчика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3A36-C113-458A-943E-6C8D214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b8c44bad74ffb"/>
          <a:srcRect xmlns:a="http://schemas.openxmlformats.org/drawingml/2006/main" l="0" t="35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60FD-F229-4B5F-994E-048B24E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FFE2C-1984-4F2F-9C82-BC26839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D869-18C6-472C-B6E6-139A1449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3C33-7088-4AE3-9987-9E4EB66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66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Открыть FINAL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3EE7-F4FF-4F61-85A1-50273C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Готовый план загружается одной кнопкой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1160-E14A-4088-AD47-FD9046F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38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5AD49-2E30-4ECA-97AA-EFB867B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F2937-A230-4827-A638-3211B08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C84C-0BB1-4E20-AC4F-DADC777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Изменить 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A6B42-B637-4643-B7C7-CB895CE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Заказ, резерв или инвестиция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94EF6-43A0-4D82-B3A3-12A5E89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81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82C9A-39A6-41AE-A851-41ABD696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F89E-9202-49E1-B8EC-AA9B08A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F0195-A0BD-4526-A09A-FBE706F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Сравнить сценарии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44869-E3C3-41FD-82A2-34A2107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BASE, обязательный стресс и TEAM_*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916AB-C7CD-444F-85A6-4C25745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3360A-6BE0-4364-8BD7-BBD309C9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0213B-C873-4138-A67B-E128908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93D0F-BC3B-4E98-8579-6BE931E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Сохранить и выгрузить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D6003-2D27-4A9B-8D90-801EF7B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8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Повторное открытие, CSV и 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F69DE-96F7-45EB-8899-7AEFE33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UI = экспорт = results/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D239E-EC7C-4B28-9292-CEF9233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FE831-8730-42EE-9A55-5F430AC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Фактический интерфейс: app/main.py · инструкция: docs/ИНСТРУКЦИЯ.md</a:t>
            </a:r>
          </a:p>
        </p:txBody>
      </p:sp>
    </p:spTree>
    <p:extLst>
      <p:ext uri="{BB962C8B-B14F-4D97-AF65-F5344CB8AC3E}">
        <p14:creationId xmlns:p14="http://schemas.microsoft.com/office/powerpoint/2010/main" val="1659362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E8247-0E83-43A6-ABA7-495D09B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Единый расчётный путь связывает данные, решения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77AF-F81F-43A1-B127-125AEEF6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794A-965D-4D83-8F0F-A7D013B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6474-81CF-4C0C-AC30-E38F1BB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CASE_INPUT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7B316-C3F9-4E99-B3D0-A334649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спрос · каналы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· лимиты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D209-497C-4F58-83EA-6263860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BAB6-3B40-4274-AE28-5DC1D3D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План + 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E7A71-6BB1-4A77-B28C-27464B8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решения · BASE/STRESS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 TEAM_*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8220E-3EFE-436B-AA0A-79B89C05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2D4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49F6-99B7-46A3-AFB0-4578EDE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run_plan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18231-E4FD-4779-812E-08BBD6C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поставки · баланс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сервис · затраты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424A9-9EA4-41E0-8CD0-472B584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95D9F-53AE-4A17-8061-9D56D7E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2FF95-04AC-46C3-936B-FA7506ED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полный passed-list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 нарушения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87345-C4AA-455D-9000-4AC282E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BA75-55E4-454B-AF42-8186753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2C70F-8DFD-496D-9711-08E33D4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риски · сравнение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вариантов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392A-C79A-484B-BE51-2E32F58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1AFEA-DC0C-408E-A592-8C68B15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A8C99-9B26-484C-86FB-39B5D9C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UI · CSV/XLSX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повторный запуск</a:t>
            </a:r>
          </a:p>
        </p:txBody>
      </p:sp>
      <p:cxnSp>
        <p:nvCxnSpPr>
          <p:cNvPr id="7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676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917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009E2-59F8-488B-831B-4FE130D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Сценарии применяются к копии данных. CASE_INPUT не мутируется.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79DD3-B543-4BB4-8A08-6FF2A25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758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F2681-3588-4F47-A9EC-9D3BFE4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10150"/>
            <a:ext cx="681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reserved ≠ ordered ≠ delivered ≠ served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1365A-B2C4-4799-83AD-044BDC6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054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Главное семантическое различение модели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3A8D6-314A-4BF6-93F8-07C2014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15B3A-C340-412B-A4AC-2A2AF93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src/engine/ · ai_workstreams/00_contracts/core_api.md · docs/note/01_architecture.md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842664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2D926-4F23-43FF-847F-9A830B2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S10 выигрывает после скрининга 25 альтернатив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B7A4-6EE9-4FB2-B363-21B1D29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5C673-F03C-4557-9F37-140F3FE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6680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5355-6F05-4406-B0CB-BE35AC9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стратегий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693F-6AF7-42BF-94E5-CDD8978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0487F-192E-4A35-974E-8556675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финалистов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E96E9-121F-4602-9618-CFAA296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23F2-B4D3-421D-B88E-34F56C2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478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выбор: S10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4F0F1-5CF7-4005-819F-1080EFE1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715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MCDA 0.970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7D64A-A82A-4796-AFAC-C993BB3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лидер во всех наборах весов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08108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b85e560fc497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0D0F1-BCED-4FC1-B607-EE784F2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91200"/>
            <a:ext cx="57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980EF-116D-4AB5-8841-E916D86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S25 дешевле в BASE на 13.31 млн, но дороже в STRESS на 850.28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39858-3ADA-4054-A6BB-40D0B86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435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Headroom S10: 370 млн против 280 млн у S25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7D00-8DA5-4069-BEE4-04CE8B7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25DDB-2448-40BF-9189-DA9BC64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results/exports/top5_detailed.csv · results/exports/mcda.csv</a:t>
            </a:r>
          </a:p>
        </p:txBody>
      </p:sp>
    </p:spTree>
    <p:extLst>
      <p:ext uri="{BB962C8B-B14F-4D97-AF65-F5344CB8AC3E}">
        <p14:creationId xmlns:p14="http://schemas.microsoft.com/office/powerpoint/2010/main" val="1628841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D084EF-0707-4DED-AED3-3CA9CD2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Финальная стратегия сочетает дешёвую базу, гибкость и ISRU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5297-4718-4D0F-9EA8-F237E7B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99142-B2DE-45DB-8470-FD28475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43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DA081-9FF3-4649-8F6E-A95A47E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43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11680-B48F-450D-8B9B-D633B82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резерв 100 → 140 → 190 т/год · TOP 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3BCDB-C76D-497E-AB4F-E3B64FF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B0766-42B5-4F9A-9454-C2015AE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Earth-Flex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6BB4-A70E-4415-9B26-428C413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110 т/год · lead time 4 мес · канал адаптации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F85A4-0C75-4064-A18E-561AFC7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E263-9ED5-4159-BC38-00A23BB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Lunar-ISRU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8734C-32AD-4795-985A-18A1CA0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120 т/год с 2038 · CAPEX 1 250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6EDD0-3334-4216-AB04-844217C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ED620-6AA8-431A-8EE0-FA68D1A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77BC5-C5FD-4CF9-A6E4-0E7C457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потери 4.5% → 1.2% · CAPEX 180 млн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2DEB-7E1E-4249-8D22-7CE8F1F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71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72F5-C148-4B0D-8D09-3240D01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E624C-BABE-4898-AF22-2EF6DAE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C6747-31BA-4D90-BE0F-52A0EB3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82FEB-FD75-4108-9EC1-522F6C4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F8C7E-09D4-4692-85AB-F1DAF64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03357-467F-4F93-822C-5C2D05D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29938-DC14-4731-B4A4-90F6D33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3356D-F89B-4311-9493-BCEBBCB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DF6FA-77A7-40D3-A370-50236F4A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DCC93-2D29-4420-89EB-14847F2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14AAB-C57D-4919-B30A-D5BB463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586F0-51DB-4C37-AC54-56DDB0C2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0DC6A-E8B1-464C-8F44-482E668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81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G1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2754E-8E0B-4686-B4DB-D2F418B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383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A/B стартуют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Опцион C не покупаем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B52F0-D568-44A1-96F2-CDBF1D2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F5290-20F3-4958-8FB7-BA68ADD4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2036-06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ZBO + ISRU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 млн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A28E8-4741-4B77-B2A8-8326A0F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G3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18C6B4-562A-4CF6-B960-B728031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147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до 2037-12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прогноз отбора 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&gt; 217 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E59D6-2C4A-4379-AE65-9F2C386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G4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76A8A-CA75-4844-957F-F52DB25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2038-01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 доле D ≤ 0.60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exercise C на 2040+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7998F-EF91-4271-B999-C7B397DA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G5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D756D-1E3C-475F-BCD3-1F008DE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383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2040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пересмотр TOP 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28F33D-CA22-43D1-8C49-33935F8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1E262-ED1B-450C-9197-705D523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F8C20-B6E1-4005-AFD9-D0AB18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к 2037, млн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09889-9746-4630-B2AB-A19E8E3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5FA995-DD71-4FB8-ABC3-F83C3AD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89DD7-1FCA-4E90-A103-F067D38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223.7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0CED8-A58E-42C4-976E-EBAF4E3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отбор ISRU в BASE, 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7BB98B-C65E-4807-8C9D-50FF38E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958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217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EFCBD4-FC05-4C53-9477-410F888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388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порог рациональности, 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3DB33B-D3B1-4419-8DFE-9DFEE1E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B87689-3857-42E8-ADC0-B1C87D1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results/plans/FINAL_BASE.json · docs/note/12_roadmap_budget.md</a:t>
            </a:r>
          </a:p>
        </p:txBody>
      </p:sp>
    </p:spTree>
    <p:extLst>
      <p:ext uri="{BB962C8B-B14F-4D97-AF65-F5344CB8AC3E}">
        <p14:creationId xmlns:p14="http://schemas.microsoft.com/office/powerpoint/2010/main" val="2087363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96164-CD1D-471B-B8C5-30BA9F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Экономика прозрачна по годам и компонентам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267FE-0D91-4AEA-A6E1-DBC797E6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8625" y="1238250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b86ef0f6f4c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839E-5575-483A-A4F4-3356494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66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7B1E4-4548-45F9-AD06-A7D5A7A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3CB6-C438-4317-B07C-815540B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 расходов, млн у.е.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BE14B-A7B4-4D1A-8F0A-3ACF8B8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8.929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553F-B4DE-4DA1-85A0-8E1FCA0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432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cost/served, млн у.е./т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4FD36-8100-461B-AAAE-5D19E38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A09E9-9DC6-401D-9CF6-BAB8E2C0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48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30B29-EA97-411C-9E37-9751154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9587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2D058-E715-48EB-A392-D56420F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53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5A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5A00"/>
                </a:solidFill>
                <a:latin typeface="Arial"/>
                <a:ea typeface="Arial"/>
                <a:cs typeface="Arial"/>
              </a:rPr>
              <a:t>824.6 млн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28A15-53BB-4BB5-815C-8216E67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6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0551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0551C"/>
                </a:solidFill>
                <a:latin typeface="Arial"/>
                <a:ea typeface="Arial"/>
                <a:cs typeface="Arial"/>
              </a:rPr>
              <a:t>TOP-переплата A в 2040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A02B-B18C-41E2-BF59-C820951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6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PV: r = 10%, t0 = 2035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CD4FE-EEAE-4060-8836-9C9961D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38DE3-0F95-4A1E-9027-925ABF7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results/exports/FINAL_BASE/financial_breakdown.csv · results/exports/top5_detailed.csv</a:t>
            </a:r>
          </a:p>
        </p:txBody>
      </p:sp>
    </p:spTree>
    <p:extLst>
      <p:ext uri="{BB962C8B-B14F-4D97-AF65-F5344CB8AC3E}">
        <p14:creationId xmlns:p14="http://schemas.microsoft.com/office/powerpoint/2010/main" val="1775174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78BD3-0402-48A4-93F9-2BBBA2E3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заказов сохраняет сервис в обязательном стрессе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624F1-C6EF-49C3-8A43-8D745F6F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02EB7-4D20-449A-9F6A-CD8F543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2DB2-AD26-457F-A203-F6C1CA8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5AE69-8395-455F-845F-8956F46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PV, млн у.е.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392E-D60E-4DB9-BF17-299C0A9D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F2F53-8E68-4C9E-A6A1-3D2D811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11 498.45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654D1-F571-4FCC-80B0-10B85A7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B547"/>
                </a:solidFill>
                <a:latin typeface="Arial"/>
                <a:ea typeface="Arial"/>
                <a:cs typeface="Arial"/>
              </a:rPr>
              <a:t>+1 537.14 млн · +15.4%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EBF1F-E77C-40B6-ADA4-6607967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В обоих адаптированных планах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C646C-559C-405B-AFF9-79FC3FD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SL_total = 1.000   ·   SL_critical = 1.000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дефицит 0 т   ·   hard-нарушений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956C1-7339-4295-A03A-8B1748B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Структура решений не меняется.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Строки заказов: 152 → 161.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Целевой запас: 55.1 → 62.3 т.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72250" y="1333500"/>
          <a:ext xmlns:a="http://schemas.openxmlformats.org/drawingml/2006/main" cx="4953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a056eae7347e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0475-4AD0-4649-BF8C-7450A81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58A6B-DC56-4346-B74F-0F3D988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7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Без адаптации: SL_total min 0.8486 · 5 нарушений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FFF87-08EE-4F00-8C83-4051EEA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0F7C1-2410-4C5A-A41D-114A801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results/scenario_comparison.csv · results/stress/P01_summary.csv</a:t>
            </a:r>
          </a:p>
        </p:txBody>
      </p:sp>
    </p:spTree>
    <p:extLst>
      <p:ext uri="{BB962C8B-B14F-4D97-AF65-F5344CB8AC3E}">
        <p14:creationId xmlns:p14="http://schemas.microsoft.com/office/powerpoint/2010/main" val="1801349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2AFE-CF45-4983-BD1D-1A9F956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Три риска определяют план действий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3E2BB-E813-415F-A4A7-F0C4407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8EA5-6215-4A11-BB1B-FBB491C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Последствия и меры рассчитаны тем же ядром, что и финальный план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3762375"/>
                <a:gridCol w="2543175"/>
              </a:tblGrid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Без меры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Ответ оператора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ISRU +12 мес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13.2 т дефицита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SL 0.9474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Снять 63 т D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66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+529.9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R08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A −20% мощности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Срез 38 т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дефицит 0 т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Снизить резерв A до 152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38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+310.2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R10</a:t>
                      </a:r>
                    </a:p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Тариф A +20%</a:t>
                      </a:r>
                    </a:p>
                  </a:txBody>
                  <a:tcPr marL="114300" marR="114300" marT="76200" marB="76200" anchor="ctr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физика без изменений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Риск принять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B дороже 7.44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TOP ограничивает перенос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у заказчика</a:t>
                      </a:r>
                    </a:p>
                  </a:txBody>
                  <a:tcPr marL="114300" marR="114300" marT="76200" marB="76200" anchor="ctr">
                    <a:solidFill>
                      <a:srgbClr val="FFF1D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4B23-799D-404D-94B0-FA0E308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Полный перезаказ устраняет нарушения. Простой довесок B оставляет конфликтующие заказы.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367A-D80D-4558-B0D0-090AB6F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R07: CAPEX ISRU +15% сохраняет лимит 1 617.5 ≤ 1 800 млн благодаря headroom S10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76E7-1213-4AC4-8DB1-6FDB083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D82A0-0ED4-4334-884B-0E6DDBA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results/risk_register.csv · results/stress/P03_risks.csv</a:t>
            </a:r>
          </a:p>
        </p:txBody>
      </p:sp>
    </p:spTree>
    <p:extLst>
      <p:ext uri="{BB962C8B-B14F-4D97-AF65-F5344CB8AC3E}">
        <p14:creationId xmlns:p14="http://schemas.microsoft.com/office/powerpoint/2010/main" val="612425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AEBEE-E24A-4C82-B98F-CF0EA5E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распределяет стоимость, но защищает критический спрос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E952-1A2F-4C22-928C-EC9F5329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12743-A160-4A7A-A9DE-23425F9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D"/>
          </a:solidFill>
          <a:ln xmlns:a="http://schemas.openxmlformats.org/drawingml/2006/main" w="28575">
            <a:solidFill>
              <a:srgbClr val="42D4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25C2-908D-4718-B936-EF4FE15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19607-788A-4FFE-9DB1-3EC8B2C2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+1 537.1 млн PV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BASE →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83BB4-DCD6-49ED-BE28-CF9E20E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1FEB-A713-4A5A-AF50-D4080D7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Критические потребители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66919-0622-447D-A3C8-274E6F9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SL_critical = 1.000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Приоритет выдачи топлива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077A-F6B5-4AFA-9137-B487E79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96D40-10A2-48D9-9C98-0DA3099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Коммерческие потребители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F42C1-CC57-49AF-944C-9F88DC4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Без адаптации принимают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130.7 т дефицита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80BB-439F-4BAF-AE87-6525451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F27D6-199E-4441-B71F-CBDE7C4D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Поставщики A–E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4185F-318C-4FAB-B69A-612F2BB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A получает +471.2 млн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 гео-тарифе +20%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ACC56-4BEB-4E6D-AAA3-EA1312BD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BE4D9-4D15-4E18-B2D1-ACCF650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Финансирующая сторона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CC12F-47D8-45F3-9F54-6DD2F6A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CAPEX 1 430 / 1 800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headroom 370 млн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76237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76237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12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>
            <a:off x="709612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15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 flipV="1">
            <a:off x="709612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EC044-3692-4944-ACE4-335CACF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91075"/>
            <a:ext cx="3524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69BAF-F884-4EF3-BAE1-62445FB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Окно реакции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9046A-2FD7-46E0-BF06-AF6597C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4 месяца по каналу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78D2F-29F5-49D9-A10F-8ACB1037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Решение для события 2038-01 нужно принять до 2037-08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E92ED-746B-4100-AD9E-5B30285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7BF76-DA50-49B6-A3FF-55C662A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docs/note/05_stakeholders.md · results/geopolitics/P05_parties.csv</a:t>
            </a:r>
          </a:p>
        </p:txBody>
      </p:sp>
    </p:spTree>
    <p:extLst>
      <p:ext uri="{BB962C8B-B14F-4D97-AF65-F5344CB8AC3E}">
        <p14:creationId xmlns:p14="http://schemas.microsoft.com/office/powerpoint/2010/main" val="2088199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791BF-2972-46E6-B70C-20CE789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Результат проверяется на четырёх независимых уровнях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27E5-93F8-4B81-B2C3-0A20AFE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A1488-08FB-4F48-BC28-8FC87AF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AA94-2EFF-48BA-8B7B-5CBBE46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контрольных векторов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BC05-5301-4378-B3E4-526443A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7A76-EF04-43F7-9516-78DB5BB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0ED7-B8FC-4E92-A243-4BE6EC4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автотестов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9C684-9AB7-468E-BFF0-6EF7E99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20E59-400D-4CC8-A259-11D94E9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≤0.1003%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56533-F519-424B-9B1F-4E2677A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ядро против ручного расчёта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A1260-7B84-4EE2-B53B-7E34F98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59F5-94E2-493C-84CC-D57DB99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55C5-A08C-4A13-AF0B-1B3DFB8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файлов в каждом экспорте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94755-066F-42FE-A445-0C4669F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73AFB-61DC-4A40-A25E-000B914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856E3-6988-40FF-B8F0-BA66380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Арифметика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60FE2-971B-4D8A-9E69-3CD8E6A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V01–V10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EC84D-F04A-4420-95A8-427170D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64FC0-04BD-4D4A-8F45-857CE62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Регрессия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D3FCA-43D7-45C3-9986-6CC2F35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pytest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33C3C-B554-4276-917A-D7BF816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5F81A-967F-49FD-91E5-B0B34DE5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Независимая модель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E65D-BD7E-4121-B959-C065B18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WP2 manual_calc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68C23-EDC5-49EB-B033-5B0AF81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0FDB4-021A-4164-B6CD-52B0719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29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42A7-1E6D-4DDF-B605-7E263EAC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экспорт и 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C0CB5-FE14-4CE6-8BC9-446A264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9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95D7F-E409-45D3-AE96-CB951BA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049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Source-X добавляется через данные без изменения формул. Горизонт 2041+ требует изменить одну константу модели и явно задать новые лимиты.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B18F5-2CD2-4141-96D1-3194C41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37A78-9D2E-411B-A1B5-0BE9B20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tests/ · results/exports/reconciliation.csv · results/exports/FINAL_BASE/meta.json</a:t>
            </a:r>
          </a:p>
        </p:txBody>
      </p:sp>
    </p:spTree>
    <p:extLst>
      <p:ext uri="{BB962C8B-B14F-4D97-AF65-F5344CB8AC3E}">
        <p14:creationId xmlns:p14="http://schemas.microsoft.com/office/powerpoint/2010/main" val="1890675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72618-DA70-46CE-80A8-A0F2C75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S10 обеспечивает спрос и оставляет управляемые точки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161A1-BC72-483E-A5F6-B8670CB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785F9-A0B1-4352-9AAC-66FDD44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S10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FFA5-C145-4325-8F88-3FE41AB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19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ISRU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018D6-735A-4779-8FBC-6DBF8D65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BASE и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EED6E-4F28-4B7F-A976-80479C2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SL 1.000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дефицит 0 т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нарушений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99DD8-635E-43F6-BA85-CD057A9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192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7691C-75FE-4F49-A662-06E268A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Опцион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D464-6E45-47E6-8898-6F31C813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811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 покупать в FINAL. Страховая ценность появляется при P(стресс-недобор ISRU) &gt; 44%; вероятность не оценивалась.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A7B5C-33BA-4983-AA75-75E6A7B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2FEEB-139F-4B93-8AC5-9864049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5E704-2115-4D67-A0F4-4A1ACE2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Обязателен: без него потери 4.5% превышают стресс-лимит 2%.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8E2D-125C-460F-8DF9-902C855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C2B13-CF82-40C7-9959-15B0977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Лунный ISRU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698C0-754D-4EA8-BB5D-EDAED13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Порог BASE: 217 т; отбор 223.7 т.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В STRESS 178.9 т: окупаемость выходит за 2040.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14B3B-7FC7-49B9-8DE4-AEB92E9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BE18A-A231-41EA-B889-8DC448D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Резерв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98F36-D2AF-4F16-AF3C-E8041BF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Запас дешевле и доказуемее: E даёт 9.21 т за 42 дня при спросе 11.5–51.6 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B8188-F1DE-4D82-8504-B09D191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53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B0C2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6349F-2E66-45C8-97C0-9FB755D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агрегированный ресурс · месячный шаг · учебные цены · сценарный подход без ложной вероятностной точности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2894F-C425-49B0-A878-CFC84CB5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998A9-6D7D-4DCB-9CA9-89DE421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docs/note/09_strategy_comparison.md · docs/note/07_limitations.md</a:t>
            </a:r>
          </a:p>
        </p:txBody>
      </p:sp>
    </p:spTree>
    <p:extLst>
      <p:ext uri="{BB962C8B-B14F-4D97-AF65-F5344CB8AC3E}">
        <p14:creationId xmlns:p14="http://schemas.microsoft.com/office/powerpoint/2010/main" val="346714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2026-09-20T01:45:54.7680000Z</dcterms:created>
  <dcterms:modified xsi:type="dcterms:W3CDTF">2026-09-20T01:45:54.7680000Z</dcterms:modified>
</coreProperties>
</file>